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handoutMasterIdLst>
    <p:handoutMasterId r:id="rId25"/>
  </p:handoutMasterIdLst>
  <p:sldIdLst>
    <p:sldId id="309" r:id="rId5"/>
    <p:sldId id="1563" r:id="rId6"/>
    <p:sldId id="1656" r:id="rId7"/>
    <p:sldId id="1657" r:id="rId8"/>
    <p:sldId id="1666" r:id="rId9"/>
    <p:sldId id="1667" r:id="rId10"/>
    <p:sldId id="1668" r:id="rId11"/>
    <p:sldId id="1658" r:id="rId12"/>
    <p:sldId id="1669" r:id="rId13"/>
    <p:sldId id="261" r:id="rId14"/>
    <p:sldId id="1670" r:id="rId15"/>
    <p:sldId id="1671" r:id="rId16"/>
    <p:sldId id="1672" r:id="rId17"/>
    <p:sldId id="1673" r:id="rId18"/>
    <p:sldId id="1674" r:id="rId19"/>
    <p:sldId id="1675" r:id="rId20"/>
    <p:sldId id="1677" r:id="rId21"/>
    <p:sldId id="1676" r:id="rId22"/>
    <p:sldId id="166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EDED"/>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EAB6D3-B2C8-474E-9D83-4EA6934A88E6}" v="19" dt="2026-07-03T06:47:36.648"/>
  </p1510:revLst>
</p1510:revInfo>
</file>

<file path=ppt/tableStyles.xml><?xml version="1.0" encoding="utf-8"?>
<a:tblStyleLst xmlns:a="http://schemas.openxmlformats.org/drawingml/2006/main" def="{F5AB1C69-6EDB-4FF4-983F-18BD219EF322}">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318" autoAdjust="0"/>
    <p:restoredTop sz="53913" autoAdjust="0"/>
  </p:normalViewPr>
  <p:slideViewPr>
    <p:cSldViewPr snapToGrid="0">
      <p:cViewPr varScale="1">
        <p:scale>
          <a:sx n="40" d="100"/>
          <a:sy n="40" d="100"/>
        </p:scale>
        <p:origin x="1334" y="24"/>
      </p:cViewPr>
      <p:guideLst/>
    </p:cSldViewPr>
  </p:slideViewPr>
  <p:notesTextViewPr>
    <p:cViewPr>
      <p:scale>
        <a:sx n="1" d="1"/>
        <a:sy n="1" d="1"/>
      </p:scale>
      <p:origin x="0" y="0"/>
    </p:cViewPr>
  </p:notesTextViewPr>
  <p:sorterViewPr>
    <p:cViewPr>
      <p:scale>
        <a:sx n="100" d="100"/>
        <a:sy n="100" d="100"/>
      </p:scale>
      <p:origin x="0" y="-1133"/>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7/3/2026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Hi everyone, my name is Kahaan, and for the past month I’ve been developing an electronic </a:t>
            </a:r>
            <a:r>
              <a:rPr lang="en-US" sz="1200" b="0" i="0" kern="1200" dirty="0" err="1">
                <a:solidFill>
                  <a:schemeClr val="tx1"/>
                </a:solidFill>
                <a:effectLst/>
                <a:latin typeface="+mn-lt"/>
                <a:ea typeface="+mn-ea"/>
                <a:cs typeface="+mn-cs"/>
              </a:rPr>
              <a:t>pippete</a:t>
            </a:r>
            <a:r>
              <a:rPr lang="en-US" sz="1200" b="0" i="0" kern="1200" dirty="0">
                <a:solidFill>
                  <a:schemeClr val="tx1"/>
                </a:solidFill>
                <a:effectLst/>
                <a:latin typeface="+mn-lt"/>
                <a:ea typeface="+mn-ea"/>
                <a:cs typeface="+mn-cs"/>
              </a:rPr>
              <a:t>, which I’m calling  </a:t>
            </a:r>
            <a:r>
              <a:rPr lang="en-US" sz="1200" b="0" i="0" kern="1200" dirty="0" err="1">
                <a:solidFill>
                  <a:schemeClr val="tx1"/>
                </a:solidFill>
                <a:effectLst/>
                <a:latin typeface="+mn-lt"/>
                <a:ea typeface="+mn-ea"/>
                <a:cs typeface="+mn-cs"/>
              </a:rPr>
              <a:t>Fluidrop</a:t>
            </a:r>
            <a:r>
              <a:rPr lang="en-US" sz="1200" b="0" i="0" kern="1200" dirty="0">
                <a:solidFill>
                  <a:schemeClr val="tx1"/>
                </a:solidFill>
                <a:effectLst/>
                <a:latin typeface="+mn-lt"/>
                <a:ea typeface="+mn-ea"/>
                <a:cs typeface="+mn-cs"/>
              </a:rPr>
              <a:t> it’s a wide-range electronic micropipette designed to bridge the gap between handheld ergonomics and high-precision automated liquid handling</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111682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Over the next few minutes, I’ll walk you through the core architecture of the device, how we built the hardware, and the rigorous gravimetric and spectrophotometric testing we used to prove its precision. Finally, I’ll show you the software ecosystem that drives it and where this technology can be applied in the real world.</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72391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Fluidrop</a:t>
            </a:r>
            <a:r>
              <a:rPr lang="en-US" sz="1200" b="0" i="0" kern="1200" dirty="0">
                <a:solidFill>
                  <a:schemeClr val="tx1"/>
                </a:solidFill>
                <a:effectLst/>
                <a:latin typeface="+mn-lt"/>
                <a:ea typeface="+mn-ea"/>
                <a:cs typeface="+mn-cs"/>
              </a:rPr>
              <a:t> uses software-controlled, multi-point calibration to actively correct for mechanical non-linearities in real-time. This allows for advanced liquid handling modes, like automated aliquoting, all while utilizing a physical limit switch to guarantee a perfect 'True Zero' on every single dispense cycle.</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863769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under the hood to understand how it works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931193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using a </a:t>
            </a:r>
            <a:r>
              <a:rPr lang="en-US" dirty="0" err="1"/>
              <a:t>nema</a:t>
            </a:r>
            <a:r>
              <a:rPr lang="en-US" dirty="0"/>
              <a:t> 11 stepper motor which provides discrete digitally controllable steps </a:t>
            </a:r>
            <a:r>
              <a:rPr lang="en-US" sz="1200" b="0" i="0" kern="1200" dirty="0">
                <a:solidFill>
                  <a:schemeClr val="tx1"/>
                </a:solidFill>
                <a:effectLst/>
                <a:latin typeface="+mn-lt"/>
                <a:ea typeface="+mn-ea"/>
                <a:cs typeface="+mn-cs"/>
              </a:rPr>
              <a:t>for exact volumetric tracking and totally eliminates the human error and fatigue associated with manual pipetting.</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2825115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That rotational energy is converted into linear motion via a precision lead-screw mechanism and the guide rail prevent any lateral wobble which can cause non linear dispensing. The extremely fine thread pitch acts as a mechanical gear reduction giving us the resolution needed to dispense single microliter volumes</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197960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the fluidics, we utilized an air-displacement, negative pressure system by integrating the lower half of an industry-standard commercial pipette. This means the liquid never touches the internal mechanics—preventing contamination—while guaranteeing universal compatibility with standard laboratory pipette tips.</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908503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validated it using two independent testing methodologies. Method 1 was a multi-point gravimetric calibration using a high-resolution Mettler Toledo balance. We weighed dispensed water at 10 distinct volumes to map out the mechanical non-linearities and generate our firmware's correction curve. Method 2 was spectrophotometric dye-dilution, where we measured the absorbance of Methylene Blue at 661 nanometers. This allowed us to measure the true mechanical repeatability of the device, completely independent of the scale's resolution limits."</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078506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Looking at the gravimetric results, you can see the success of our multi-point correction curve. On the right, the measured volumes track almost perfectly across the ideal 1:1 line. Across the entire 1 to 100 microliter range, we achieved exceptional accuracy, with our 50 microliter test showing an systemic error of minus 0.33% and a coefficient of variation of just 0.31%.</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4121312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micro-analytical scales struggle with environmental noise at very low volumes, we turned to dye-dilution to prove the system's mechanical variance. Since absorbance is directly proportional to the volume of dye dispensed, the CV of the absorbance acts as a direct proxy for the CV of our volume</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232197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At 50 microliters, the results were incredibly stable. The instrument repeatability itself had a variance of 0.034 and the pipette variation was highly comparable at 0.086. What this means in practical terms is a standard deviation of just 0.29 microliters. The pipette reliably delivers 50 plus-or-minus 0.29 microliters every time.</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464451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serves two major roles. First, as a handheld e-pipette, it completely eliminates operator-to-operator variability and prevents repetitive strain injuries during long microplate workflows. Second, because it is self-contained and controlled via a Serial API, it can be seamlessly mounted onto a Cartesian XY gantry to act as the dispensing head for fully automated ELISA prep for </a:t>
            </a:r>
            <a:r>
              <a:rPr lang="en-US" sz="1200" b="0" i="0" kern="1200" dirty="0" err="1">
                <a:solidFill>
                  <a:schemeClr val="tx1"/>
                </a:solidFill>
                <a:effectLst/>
                <a:latin typeface="+mn-lt"/>
                <a:ea typeface="+mn-ea"/>
                <a:cs typeface="+mn-cs"/>
              </a:rPr>
              <a:t>Pramaan</a:t>
            </a:r>
            <a:r>
              <a:rPr lang="en-US" sz="1200" b="0" i="0" kern="1200" dirty="0">
                <a:solidFill>
                  <a:schemeClr val="tx1"/>
                </a:solidFill>
                <a:effectLst/>
                <a:latin typeface="+mn-lt"/>
                <a:ea typeface="+mn-ea"/>
                <a:cs typeface="+mn-cs"/>
              </a:rPr>
              <a:t> project, and Ultrafast PCR</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2169819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raw linear actuator can easily be housed in a sleek, ergonomic commercial casing, complete with an OLED display and tactile buttons for standalone handheld use.</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3379323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built a custom Web-Serial dashboard that connects directly to the pipette from any Chrome browser. From here, users can configure protocols like Aliquot modes, jog the motor to set hard limits, and dynamically input their gravimetric data to generate the multi-point calibration curve. The software automatically flashes this curve into the pipette's onboard memory, meaning the device runs perfectly autonomously once unplugged.</a:t>
            </a:r>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4042737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conclusion, we successfully engineered a 1-to-100 microliter electronic pipette that replaces three manual instruments. By pairing a high-resolution linear actuator with dynamic software calibration, we achieved high precision while eliminating human fatigue. </a:t>
            </a:r>
            <a:r>
              <a:rPr lang="en-US" sz="1200" b="0" i="0" kern="1200" dirty="0" err="1">
                <a:solidFill>
                  <a:schemeClr val="tx1"/>
                </a:solidFill>
                <a:effectLst/>
                <a:latin typeface="+mn-lt"/>
                <a:ea typeface="+mn-ea"/>
                <a:cs typeface="+mn-cs"/>
              </a:rPr>
              <a:t>Fluidrop</a:t>
            </a:r>
            <a:r>
              <a:rPr lang="en-US" sz="1200" b="0" i="0" kern="1200" dirty="0">
                <a:solidFill>
                  <a:schemeClr val="tx1"/>
                </a:solidFill>
                <a:effectLst/>
                <a:latin typeface="+mn-lt"/>
                <a:ea typeface="+mn-ea"/>
                <a:cs typeface="+mn-cs"/>
              </a:rPr>
              <a:t> is not just a motorized syringe—it is a smart, autonomous liquid handling platform ready to scale from the scientist's hand directly into robotic automation. Thank you, and I’ll now take any questions."</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19</a:t>
            </a:fld>
            <a:endParaRPr lang="en-US" dirty="0"/>
          </a:p>
        </p:txBody>
      </p:sp>
    </p:spTree>
    <p:extLst>
      <p:ext uri="{BB962C8B-B14F-4D97-AF65-F5344CB8AC3E}">
        <p14:creationId xmlns:p14="http://schemas.microsoft.com/office/powerpoint/2010/main" val="322664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112964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069745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43787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1768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88751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28185980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808489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dirty="0"/>
          </a:p>
        </p:txBody>
      </p:sp>
    </p:spTree>
    <p:extLst>
      <p:ext uri="{BB962C8B-B14F-4D97-AF65-F5344CB8AC3E}">
        <p14:creationId xmlns:p14="http://schemas.microsoft.com/office/powerpoint/2010/main" val="35649633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759064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42913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33554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3639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214047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871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83735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40586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9231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60194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49644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r>
              <a:rPr lang="en-US"/>
              <a:t>7/2/2026</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570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083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0438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4980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2859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247753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7404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r>
              <a:rPr lang="en-US"/>
              <a:t>7/2/2026</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Fluidrop | OMI Lab | Kahaan Padiya </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Fluidrop | OMI Lab | Kahaan Padiya </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t>7/2/2026</a:t>
            </a:r>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Fluidrop | OMI Lab | Kahaan Padiya </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Fluidrop | OMI Lab | Kahaan Padiya </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r>
              <a:rPr lang="en-US"/>
              <a:t>7/2/2026</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Fluidrop | OMI Lab | Kahaan Padiya </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715" r:id="rId2"/>
    <p:sldLayoutId id="2147483676" r:id="rId3"/>
    <p:sldLayoutId id="2147483712" r:id="rId4"/>
    <p:sldLayoutId id="2147483698" r:id="rId5"/>
    <p:sldLayoutId id="2147483734" r:id="rId6"/>
    <p:sldLayoutId id="2147483736" r:id="rId7"/>
    <p:sldLayoutId id="2147483729" r:id="rId8"/>
    <p:sldLayoutId id="2147483783" r:id="rId9"/>
    <p:sldLayoutId id="2147483716" r:id="rId10"/>
    <p:sldLayoutId id="2147483782" r:id="rId11"/>
    <p:sldLayoutId id="2147483713" r:id="rId12"/>
    <p:sldLayoutId id="2147483732" r:id="rId13"/>
    <p:sldLayoutId id="2147483662" r:id="rId14"/>
    <p:sldLayoutId id="2147483679" r:id="rId15"/>
    <p:sldLayoutId id="2147483680" r:id="rId16"/>
    <p:sldLayoutId id="2147483681" r:id="rId17"/>
    <p:sldLayoutId id="2147483778" r:id="rId18"/>
    <p:sldLayoutId id="2147483777" r:id="rId19"/>
    <p:sldLayoutId id="2147483689" r:id="rId20"/>
    <p:sldLayoutId id="2147483690" r:id="rId21"/>
    <p:sldLayoutId id="2147483707" r:id="rId22"/>
    <p:sldLayoutId id="2147483708" r:id="rId23"/>
    <p:sldLayoutId id="2147483692" r:id="rId24"/>
    <p:sldLayoutId id="2147483691" r:id="rId25"/>
    <p:sldLayoutId id="2147483743" r:id="rId26"/>
    <p:sldLayoutId id="2147483744" r:id="rId27"/>
    <p:sldLayoutId id="2147483694" r:id="rId28"/>
    <p:sldLayoutId id="2147483770" r:id="rId29"/>
    <p:sldLayoutId id="2147483769" r:id="rId30"/>
    <p:sldLayoutId id="2147483771" r:id="rId31"/>
    <p:sldLayoutId id="2147483693" r:id="rId32"/>
    <p:sldLayoutId id="2147483711" r:id="rId33"/>
    <p:sldLayoutId id="2147483672" r:id="rId34"/>
    <p:sldLayoutId id="2147483673" r:id="rId35"/>
    <p:sldLayoutId id="2147483696" r:id="rId36"/>
    <p:sldLayoutId id="2147483780" r:id="rId37"/>
    <p:sldLayoutId id="2147483740" r:id="rId38"/>
    <p:sldLayoutId id="2147483779" r:id="rId39"/>
    <p:sldLayoutId id="2147483757" r:id="rId40"/>
    <p:sldLayoutId id="2147483762" r:id="rId41"/>
    <p:sldLayoutId id="2147483764" r:id="rId42"/>
    <p:sldLayoutId id="2147483767" r:id="rId43"/>
    <p:sldLayoutId id="2147483664" r:id="rId44"/>
    <p:sldLayoutId id="2147483665" r:id="rId45"/>
    <p:sldLayoutId id="2147483666" r:id="rId46"/>
    <p:sldLayoutId id="2147483667" r:id="rId47"/>
    <p:sldLayoutId id="2147483668" r:id="rId48"/>
    <p:sldLayoutId id="2147483669" r:id="rId49"/>
    <p:sldLayoutId id="2147483685" r:id="rId50"/>
    <p:sldLayoutId id="2147483730" r:id="rId5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4.xml"/><Relationship Id="rId5" Type="http://schemas.microsoft.com/office/2007/relationships/hdphoto" Target="../media/hdphoto1.wdp"/><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4.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4.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8FACAB-959D-812F-8963-C96537EDB0E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E92D4A-2B01-7C79-765D-37A3B92265E7}"/>
              </a:ext>
            </a:extLst>
          </p:cNvPr>
          <p:cNvSpPr>
            <a:spLocks noGrp="1"/>
          </p:cNvSpPr>
          <p:nvPr>
            <p:ph type="title"/>
          </p:nvPr>
        </p:nvSpPr>
        <p:spPr>
          <a:xfrm>
            <a:off x="429768" y="557784"/>
            <a:ext cx="3713996" cy="2212313"/>
          </a:xfrm>
        </p:spPr>
        <p:txBody>
          <a:bodyPr anchor="t">
            <a:normAutofit/>
          </a:bodyPr>
          <a:lstStyle/>
          <a:p>
            <a:r>
              <a:rPr lang="en-US" b="1" dirty="0" err="1"/>
              <a:t>Fluidrop</a:t>
            </a:r>
            <a:r>
              <a:rPr lang="en-US" dirty="0"/>
              <a:t>. </a:t>
            </a:r>
          </a:p>
        </p:txBody>
      </p:sp>
      <p:sp>
        <p:nvSpPr>
          <p:cNvPr id="4" name="Subtitle 3">
            <a:extLst>
              <a:ext uri="{FF2B5EF4-FFF2-40B4-BE49-F238E27FC236}">
                <a16:creationId xmlns:a16="http://schemas.microsoft.com/office/drawing/2014/main" id="{214E2E02-FD44-8495-42A7-69BFA6085D98}"/>
              </a:ext>
            </a:extLst>
          </p:cNvPr>
          <p:cNvSpPr>
            <a:spLocks noGrp="1"/>
          </p:cNvSpPr>
          <p:nvPr>
            <p:ph type="body" sz="half" idx="2"/>
          </p:nvPr>
        </p:nvSpPr>
        <p:spPr>
          <a:xfrm>
            <a:off x="429767" y="2826137"/>
            <a:ext cx="3310128" cy="3434638"/>
          </a:xfrm>
        </p:spPr>
        <p:txBody>
          <a:bodyPr anchor="b">
            <a:normAutofit/>
          </a:bodyPr>
          <a:lstStyle/>
          <a:p>
            <a:pPr marL="0" indent="0">
              <a:lnSpc>
                <a:spcPct val="110000"/>
              </a:lnSpc>
              <a:buNone/>
            </a:pPr>
            <a:r>
              <a:rPr lang="en-US" dirty="0"/>
              <a:t>Wide Range Electronic Micropipette (1-100uL)</a:t>
            </a:r>
            <a:br>
              <a:rPr lang="en-US" dirty="0"/>
            </a:br>
            <a:br>
              <a:rPr lang="en-US" dirty="0"/>
            </a:br>
            <a:br>
              <a:rPr lang="en-US" dirty="0"/>
            </a:br>
            <a:br>
              <a:rPr lang="en-US" dirty="0"/>
            </a:br>
            <a:br>
              <a:rPr lang="en-US" dirty="0"/>
            </a:br>
            <a:br>
              <a:rPr lang="en-US" dirty="0"/>
            </a:br>
            <a:r>
              <a:rPr lang="en-US" dirty="0"/>
              <a:t>Kahaan Padiya</a:t>
            </a:r>
            <a:br>
              <a:rPr lang="en-US" dirty="0"/>
            </a:br>
            <a:r>
              <a:rPr lang="en-US" dirty="0"/>
              <a:t>Optics and Microfluidics lab, IISc</a:t>
            </a:r>
            <a:br>
              <a:rPr lang="en-US" dirty="0"/>
            </a:br>
            <a:r>
              <a:rPr lang="en-US" dirty="0"/>
              <a:t>2</a:t>
            </a:r>
            <a:r>
              <a:rPr lang="en-US" baseline="30000" dirty="0"/>
              <a:t>nd</a:t>
            </a:r>
            <a:r>
              <a:rPr lang="en-US" dirty="0"/>
              <a:t> July 2026</a:t>
            </a:r>
            <a:br>
              <a:rPr lang="en-US" dirty="0"/>
            </a:br>
            <a:br>
              <a:rPr lang="en-US" dirty="0"/>
            </a:br>
            <a:endParaRPr lang="en-US" dirty="0"/>
          </a:p>
        </p:txBody>
      </p:sp>
      <p:pic>
        <p:nvPicPr>
          <p:cNvPr id="12" name="Picture 11">
            <a:extLst>
              <a:ext uri="{FF2B5EF4-FFF2-40B4-BE49-F238E27FC236}">
                <a16:creationId xmlns:a16="http://schemas.microsoft.com/office/drawing/2014/main" id="{35054DA8-10D8-0759-4863-0B2C3BD3D3D7}"/>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2" name="Date Placeholder 1">
            <a:extLst>
              <a:ext uri="{FF2B5EF4-FFF2-40B4-BE49-F238E27FC236}">
                <a16:creationId xmlns:a16="http://schemas.microsoft.com/office/drawing/2014/main" id="{117A4C6A-B88C-F57C-8C88-E54173AB5018}"/>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765CDA49-F2DD-5D82-0F30-F0121BB14507}"/>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640834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gs>
          </a:gsLst>
          <a:lin ang="5400000" scaled="1"/>
        </a:gradFill>
        <a:effectLst/>
      </p:bgPr>
    </p:bg>
    <p:spTree>
      <p:nvGrpSpPr>
        <p:cNvPr id="1" name="">
          <a:extLst>
            <a:ext uri="{FF2B5EF4-FFF2-40B4-BE49-F238E27FC236}">
              <a16:creationId xmlns:a16="http://schemas.microsoft.com/office/drawing/2014/main" id="{748E99EF-994E-2448-D260-6957DB076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7EC32-F483-9CB8-A03D-3BDD45298ED1}"/>
              </a:ext>
            </a:extLst>
          </p:cNvPr>
          <p:cNvSpPr>
            <a:spLocks noGrp="1"/>
          </p:cNvSpPr>
          <p:nvPr>
            <p:ph type="title"/>
          </p:nvPr>
        </p:nvSpPr>
        <p:spPr>
          <a:xfrm>
            <a:off x="429768" y="557784"/>
            <a:ext cx="3713996" cy="2212313"/>
          </a:xfrm>
        </p:spPr>
        <p:txBody>
          <a:bodyPr anchor="t">
            <a:normAutofit/>
          </a:bodyPr>
          <a:lstStyle/>
          <a:p>
            <a:r>
              <a:rPr lang="en-US" dirty="0"/>
              <a:t>Agenda</a:t>
            </a:r>
          </a:p>
        </p:txBody>
      </p:sp>
      <p:sp>
        <p:nvSpPr>
          <p:cNvPr id="6" name="Content Placeholder 5">
            <a:extLst>
              <a:ext uri="{FF2B5EF4-FFF2-40B4-BE49-F238E27FC236}">
                <a16:creationId xmlns:a16="http://schemas.microsoft.com/office/drawing/2014/main" id="{0FC375E5-CCC8-A819-72F8-DE6E01420C03}"/>
              </a:ext>
            </a:extLst>
          </p:cNvPr>
          <p:cNvSpPr>
            <a:spLocks noGrp="1"/>
          </p:cNvSpPr>
          <p:nvPr>
            <p:ph type="body" sz="half" idx="2"/>
          </p:nvPr>
        </p:nvSpPr>
        <p:spPr>
          <a:xfrm>
            <a:off x="429767" y="2826137"/>
            <a:ext cx="3310128" cy="3434638"/>
          </a:xfrm>
        </p:spPr>
        <p:txBody>
          <a:bodyPr anchor="b">
            <a:normAutofit fontScale="92500" lnSpcReduction="20000"/>
          </a:bodyPr>
          <a:lstStyle/>
          <a:p>
            <a:pPr marL="285750" indent="-285750">
              <a:buFont typeface="Arial" panose="020B0604020202020204" pitchFamily="34" charset="0"/>
              <a:buChar char="•"/>
            </a:pPr>
            <a:r>
              <a:rPr lang="en-US" dirty="0"/>
              <a:t>Product overview</a:t>
            </a:r>
          </a:p>
          <a:p>
            <a:pPr marL="285750" indent="-285750">
              <a:buFont typeface="Arial" panose="020B0604020202020204" pitchFamily="34" charset="0"/>
              <a:buChar char="•"/>
            </a:pPr>
            <a:r>
              <a:rPr lang="en-US" dirty="0"/>
              <a:t>Calibration methodology (gravimetric + spectrophotometric)</a:t>
            </a:r>
          </a:p>
          <a:p>
            <a:pPr marL="285750" indent="-285750">
              <a:buFont typeface="Arial" panose="020B0604020202020204" pitchFamily="34" charset="0"/>
              <a:buChar char="•"/>
            </a:pPr>
            <a:r>
              <a:rPr lang="en-US" dirty="0"/>
              <a:t>Results: full-range accuracy</a:t>
            </a:r>
          </a:p>
          <a:p>
            <a:pPr marL="285750" indent="-285750">
              <a:buFont typeface="Arial" panose="020B0604020202020204" pitchFamily="34" charset="0"/>
              <a:buChar char="•"/>
            </a:pPr>
            <a:r>
              <a:rPr lang="en-US" dirty="0"/>
              <a:t>Results: 50 µL deep dive</a:t>
            </a:r>
          </a:p>
          <a:p>
            <a:pPr marL="285750" indent="-285750">
              <a:buFont typeface="Arial" panose="020B0604020202020204" pitchFamily="34" charset="0"/>
              <a:buChar char="•"/>
            </a:pPr>
            <a:r>
              <a:rPr lang="en-US" dirty="0"/>
              <a:t>Results: 10 µL deep dive</a:t>
            </a:r>
          </a:p>
          <a:p>
            <a:pPr marL="285750" indent="-285750">
              <a:buFont typeface="Arial" panose="020B0604020202020204" pitchFamily="34" charset="0"/>
              <a:buChar char="•"/>
            </a:pPr>
            <a:r>
              <a:rPr lang="en-US" dirty="0"/>
              <a:t>Practical application</a:t>
            </a:r>
          </a:p>
          <a:p>
            <a:pPr marL="285750" indent="-285750">
              <a:buFont typeface="Arial" panose="020B0604020202020204" pitchFamily="34" charset="0"/>
              <a:buChar char="•"/>
            </a:pPr>
            <a:r>
              <a:rPr lang="en-US" dirty="0"/>
              <a:t>Software showcase</a:t>
            </a:r>
          </a:p>
          <a:p>
            <a:pPr marL="285750" indent="-285750">
              <a:buFont typeface="Arial" panose="020B0604020202020204" pitchFamily="34" charset="0"/>
              <a:buChar char="•"/>
            </a:pPr>
            <a:r>
              <a:rPr lang="en-US" dirty="0"/>
              <a:t>Summary &amp; conclusions</a:t>
            </a:r>
          </a:p>
        </p:txBody>
      </p:sp>
      <p:pic>
        <p:nvPicPr>
          <p:cNvPr id="10" name="Picture 9">
            <a:extLst>
              <a:ext uri="{FF2B5EF4-FFF2-40B4-BE49-F238E27FC236}">
                <a16:creationId xmlns:a16="http://schemas.microsoft.com/office/drawing/2014/main" id="{A51F6E4E-DC6B-5B2B-6FFF-4C35A9A6FF74}"/>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rot="5400000">
            <a:off x="6432775" y="810144"/>
            <a:ext cx="5581816" cy="5077097"/>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3" name="Date Placeholder 2">
            <a:extLst>
              <a:ext uri="{FF2B5EF4-FFF2-40B4-BE49-F238E27FC236}">
                <a16:creationId xmlns:a16="http://schemas.microsoft.com/office/drawing/2014/main" id="{C3114E9E-AD9E-4308-1389-DE06BFC4175D}"/>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60FDB0C7-5BB7-8276-E7D5-6C6D93CF8350}"/>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4032502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E96A91-1631-1D6C-FF50-C75B65DE6B12}"/>
              </a:ext>
            </a:extLst>
          </p:cNvPr>
          <p:cNvSpPr>
            <a:spLocks noGrp="1"/>
          </p:cNvSpPr>
          <p:nvPr>
            <p:ph type="title"/>
          </p:nvPr>
        </p:nvSpPr>
        <p:spPr/>
        <p:txBody>
          <a:bodyPr/>
          <a:lstStyle/>
          <a:p>
            <a:r>
              <a:rPr lang="en-US" dirty="0"/>
              <a:t>Product Overview</a:t>
            </a:r>
          </a:p>
        </p:txBody>
      </p:sp>
      <p:sp>
        <p:nvSpPr>
          <p:cNvPr id="7" name="Content Placeholder 6">
            <a:extLst>
              <a:ext uri="{FF2B5EF4-FFF2-40B4-BE49-F238E27FC236}">
                <a16:creationId xmlns:a16="http://schemas.microsoft.com/office/drawing/2014/main" id="{BC5C0AB1-C3E0-9A6E-F18F-2ACAEB29BFF3}"/>
              </a:ext>
            </a:extLst>
          </p:cNvPr>
          <p:cNvSpPr>
            <a:spLocks noGrp="1"/>
          </p:cNvSpPr>
          <p:nvPr>
            <p:ph sz="quarter" idx="14"/>
          </p:nvPr>
        </p:nvSpPr>
        <p:spPr>
          <a:xfrm>
            <a:off x="429768" y="1828800"/>
            <a:ext cx="6135624" cy="1143000"/>
          </a:xfrm>
        </p:spPr>
        <p:txBody>
          <a:bodyPr/>
          <a:lstStyle/>
          <a:p>
            <a:pPr marL="285750" indent="-285750">
              <a:buFont typeface="Arial" panose="020B0604020202020204" pitchFamily="34" charset="0"/>
              <a:buChar char="•"/>
            </a:pPr>
            <a:r>
              <a:rPr lang="en-US" sz="1800" b="1" dirty="0"/>
              <a:t>Wide volume range:</a:t>
            </a:r>
          </a:p>
          <a:p>
            <a:pPr marL="971550" lvl="2" indent="-285750"/>
            <a:r>
              <a:rPr lang="en-US" dirty="0"/>
              <a:t>Replaces 3 traditional mechanical pipettes P10, P20 and P100 by having a functional range of 1-100uL.</a:t>
            </a:r>
          </a:p>
          <a:p>
            <a:pPr lvl="2" indent="0">
              <a:buNone/>
            </a:pPr>
            <a:endParaRPr lang="en-US" b="1" dirty="0"/>
          </a:p>
        </p:txBody>
      </p:sp>
      <p:sp>
        <p:nvSpPr>
          <p:cNvPr id="2" name="Content Placeholder 6">
            <a:extLst>
              <a:ext uri="{FF2B5EF4-FFF2-40B4-BE49-F238E27FC236}">
                <a16:creationId xmlns:a16="http://schemas.microsoft.com/office/drawing/2014/main" id="{4BEF87EA-6758-05B9-BA38-F7C83E70DD02}"/>
              </a:ext>
            </a:extLst>
          </p:cNvPr>
          <p:cNvSpPr txBox="1">
            <a:spLocks/>
          </p:cNvSpPr>
          <p:nvPr/>
        </p:nvSpPr>
        <p:spPr>
          <a:xfrm>
            <a:off x="429768" y="2971800"/>
            <a:ext cx="6135624" cy="1143000"/>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t>Software controlled multipoint Calibration</a:t>
            </a:r>
          </a:p>
          <a:p>
            <a:pPr marL="971550" lvl="2" indent="-285750"/>
            <a:r>
              <a:rPr lang="en-US" dirty="0"/>
              <a:t>Actively corrects for mechanical non-linearities in real-time.</a:t>
            </a:r>
            <a:endParaRPr lang="en-US" b="1" dirty="0"/>
          </a:p>
        </p:txBody>
      </p:sp>
      <p:sp>
        <p:nvSpPr>
          <p:cNvPr id="4" name="Content Placeholder 6">
            <a:extLst>
              <a:ext uri="{FF2B5EF4-FFF2-40B4-BE49-F238E27FC236}">
                <a16:creationId xmlns:a16="http://schemas.microsoft.com/office/drawing/2014/main" id="{A6B92EDC-4606-1599-B463-2468BF3418D5}"/>
              </a:ext>
            </a:extLst>
          </p:cNvPr>
          <p:cNvSpPr txBox="1">
            <a:spLocks/>
          </p:cNvSpPr>
          <p:nvPr/>
        </p:nvSpPr>
        <p:spPr>
          <a:xfrm>
            <a:off x="429768" y="4062714"/>
            <a:ext cx="6135624" cy="1143000"/>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t>Efficient liquid handling modes:</a:t>
            </a:r>
          </a:p>
          <a:p>
            <a:pPr marL="971550" lvl="2" indent="-285750"/>
            <a:r>
              <a:rPr lang="en-US" dirty="0"/>
              <a:t>Variable Volume pipetting</a:t>
            </a:r>
          </a:p>
          <a:p>
            <a:pPr marL="971550" lvl="2" indent="-285750"/>
            <a:r>
              <a:rPr lang="en-US" dirty="0"/>
              <a:t>Aliquot mode</a:t>
            </a:r>
          </a:p>
        </p:txBody>
      </p:sp>
      <p:sp>
        <p:nvSpPr>
          <p:cNvPr id="8" name="Content Placeholder 6">
            <a:extLst>
              <a:ext uri="{FF2B5EF4-FFF2-40B4-BE49-F238E27FC236}">
                <a16:creationId xmlns:a16="http://schemas.microsoft.com/office/drawing/2014/main" id="{ED601E52-DF21-E6B9-2AC7-5C4060937925}"/>
              </a:ext>
            </a:extLst>
          </p:cNvPr>
          <p:cNvSpPr txBox="1">
            <a:spLocks/>
          </p:cNvSpPr>
          <p:nvPr/>
        </p:nvSpPr>
        <p:spPr>
          <a:xfrm>
            <a:off x="429768" y="5257800"/>
            <a:ext cx="6135624" cy="1143000"/>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t>Closed loop hardware feedback:</a:t>
            </a:r>
          </a:p>
          <a:p>
            <a:pPr marL="971550" lvl="2" indent="-285750"/>
            <a:r>
              <a:rPr lang="en-US" dirty="0"/>
              <a:t>Physical limit switch architecture ensures a perfect mechanical "True Zero" on every cycle, eliminating cumulative error over hundreds of pipetting cycles.</a:t>
            </a:r>
          </a:p>
          <a:p>
            <a:pPr marL="971550" lvl="2" indent="-285750"/>
            <a:endParaRPr lang="en-US" dirty="0"/>
          </a:p>
        </p:txBody>
      </p:sp>
      <p:pic>
        <p:nvPicPr>
          <p:cNvPr id="13" name="Picture 12">
            <a:extLst>
              <a:ext uri="{FF2B5EF4-FFF2-40B4-BE49-F238E27FC236}">
                <a16:creationId xmlns:a16="http://schemas.microsoft.com/office/drawing/2014/main" id="{E3F7F36D-C808-30B8-8C4A-8CD1A9088872}"/>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rot="5400000">
            <a:off x="4330088" y="1027994"/>
            <a:ext cx="10602587" cy="964388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3" name="Date Placeholder 2">
            <a:extLst>
              <a:ext uri="{FF2B5EF4-FFF2-40B4-BE49-F238E27FC236}">
                <a16:creationId xmlns:a16="http://schemas.microsoft.com/office/drawing/2014/main" id="{70AFC00E-C6F1-0D79-3ED1-D140AF43BF7B}"/>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CDD4B11F-7CAC-E845-A9D8-27C5A95C4725}"/>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3901277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8D14EC-78B8-4287-8DC4-AECA6B3C1038}"/>
              </a:ext>
            </a:extLst>
          </p:cNvPr>
          <p:cNvSpPr>
            <a:spLocks noGrp="1"/>
          </p:cNvSpPr>
          <p:nvPr>
            <p:ph type="title"/>
          </p:nvPr>
        </p:nvSpPr>
        <p:spPr>
          <a:xfrm>
            <a:off x="429768" y="640079"/>
            <a:ext cx="11328844" cy="1305951"/>
          </a:xfrm>
        </p:spPr>
        <p:txBody>
          <a:bodyPr>
            <a:normAutofit/>
          </a:bodyPr>
          <a:lstStyle/>
          <a:p>
            <a:r>
              <a:rPr lang="en-US" sz="4800" dirty="0"/>
              <a:t>System architecture and mechanics</a:t>
            </a:r>
          </a:p>
        </p:txBody>
      </p:sp>
      <p:sp>
        <p:nvSpPr>
          <p:cNvPr id="3" name="Content Placeholder 2">
            <a:extLst>
              <a:ext uri="{FF2B5EF4-FFF2-40B4-BE49-F238E27FC236}">
                <a16:creationId xmlns:a16="http://schemas.microsoft.com/office/drawing/2014/main" id="{1F76237C-642F-AD20-F06E-8F99A70164A6}"/>
              </a:ext>
            </a:extLst>
          </p:cNvPr>
          <p:cNvSpPr>
            <a:spLocks noGrp="1"/>
          </p:cNvSpPr>
          <p:nvPr>
            <p:ph idx="1"/>
          </p:nvPr>
        </p:nvSpPr>
        <p:spPr>
          <a:xfrm>
            <a:off x="429768" y="1956816"/>
            <a:ext cx="11328844" cy="4901184"/>
          </a:xfrm>
        </p:spPr>
        <p:txBody>
          <a:bodyPr/>
          <a:lstStyle/>
          <a:p>
            <a:endParaRPr lang="en-US" dirty="0"/>
          </a:p>
        </p:txBody>
      </p:sp>
      <p:pic>
        <p:nvPicPr>
          <p:cNvPr id="7" name="Picture 6">
            <a:extLst>
              <a:ext uri="{FF2B5EF4-FFF2-40B4-BE49-F238E27FC236}">
                <a16:creationId xmlns:a16="http://schemas.microsoft.com/office/drawing/2014/main" id="{BF8BE4F6-3509-F5F3-CCF4-74C60CA8D800}"/>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429768" y="-1392940"/>
            <a:ext cx="10602587" cy="964388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2" name="Date Placeholder 1">
            <a:extLst>
              <a:ext uri="{FF2B5EF4-FFF2-40B4-BE49-F238E27FC236}">
                <a16:creationId xmlns:a16="http://schemas.microsoft.com/office/drawing/2014/main" id="{8BDAF633-4C45-7780-E6DA-EDE474AE6506}"/>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77D8EF6D-4812-3F60-6D2A-DBF79C6A4841}"/>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232722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0">
              <a:schemeClr val="bg2">
                <a:lumMod val="90000"/>
              </a:schemeClr>
            </a:gs>
            <a:gs pos="73000">
              <a:schemeClr val="bg2"/>
            </a:gs>
            <a:gs pos="97000">
              <a:schemeClr val="bg2"/>
            </a:gs>
          </a:gsLst>
          <a:lin ang="5400000" scaled="1"/>
        </a:gradFill>
        <a:effectLst/>
      </p:bgPr>
    </p:bg>
    <p:spTree>
      <p:nvGrpSpPr>
        <p:cNvPr id="1" name="">
          <a:extLst>
            <a:ext uri="{FF2B5EF4-FFF2-40B4-BE49-F238E27FC236}">
              <a16:creationId xmlns:a16="http://schemas.microsoft.com/office/drawing/2014/main" id="{FCD95072-87C5-37B3-386A-0EDD695BD3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573589-B9F0-7295-3CFF-081E58D6E611}"/>
              </a:ext>
            </a:extLst>
          </p:cNvPr>
          <p:cNvSpPr>
            <a:spLocks noGrp="1"/>
          </p:cNvSpPr>
          <p:nvPr>
            <p:ph type="title"/>
          </p:nvPr>
        </p:nvSpPr>
        <p:spPr>
          <a:xfrm>
            <a:off x="429768" y="640079"/>
            <a:ext cx="11328844" cy="1305951"/>
          </a:xfrm>
        </p:spPr>
        <p:txBody>
          <a:bodyPr>
            <a:normAutofit/>
          </a:bodyPr>
          <a:lstStyle/>
          <a:p>
            <a:r>
              <a:rPr lang="en-US" sz="4800" dirty="0"/>
              <a:t>System architecture and mechanics</a:t>
            </a:r>
          </a:p>
        </p:txBody>
      </p:sp>
      <p:sp>
        <p:nvSpPr>
          <p:cNvPr id="3" name="Content Placeholder 2">
            <a:extLst>
              <a:ext uri="{FF2B5EF4-FFF2-40B4-BE49-F238E27FC236}">
                <a16:creationId xmlns:a16="http://schemas.microsoft.com/office/drawing/2014/main" id="{D3D952D2-CA2A-3CAA-C8F7-AD3CD0F56108}"/>
              </a:ext>
            </a:extLst>
          </p:cNvPr>
          <p:cNvSpPr>
            <a:spLocks noGrp="1"/>
          </p:cNvSpPr>
          <p:nvPr>
            <p:ph idx="1"/>
          </p:nvPr>
        </p:nvSpPr>
        <p:spPr>
          <a:xfrm>
            <a:off x="429768" y="1956816"/>
            <a:ext cx="11328844" cy="4901184"/>
          </a:xfrm>
        </p:spPr>
        <p:txBody>
          <a:bodyPr/>
          <a:lstStyle/>
          <a:p>
            <a:endParaRPr lang="en-US" dirty="0"/>
          </a:p>
        </p:txBody>
      </p:sp>
      <p:pic>
        <p:nvPicPr>
          <p:cNvPr id="7" name="Picture 6">
            <a:extLst>
              <a:ext uri="{FF2B5EF4-FFF2-40B4-BE49-F238E27FC236}">
                <a16:creationId xmlns:a16="http://schemas.microsoft.com/office/drawing/2014/main" id="{7690F267-8729-0130-4068-27DF81CE1B7A}"/>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11033760" y="-4617150"/>
            <a:ext cx="18469475" cy="1679942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8B342F15-D5F8-5A29-D533-17FE7753E6F7}"/>
              </a:ext>
            </a:extLst>
          </p:cNvPr>
          <p:cNvSpPr txBox="1"/>
          <p:nvPr/>
        </p:nvSpPr>
        <p:spPr>
          <a:xfrm>
            <a:off x="7823200" y="2103120"/>
            <a:ext cx="3596640" cy="3908762"/>
          </a:xfrm>
          <a:prstGeom prst="rect">
            <a:avLst/>
          </a:prstGeom>
          <a:noFill/>
        </p:spPr>
        <p:txBody>
          <a:bodyPr wrap="square" rtlCol="0">
            <a:spAutoFit/>
          </a:bodyPr>
          <a:lstStyle/>
          <a:p>
            <a:r>
              <a:rPr lang="en-US" b="1" dirty="0"/>
              <a:t>Stepper Motor Drivetrain</a:t>
            </a:r>
          </a:p>
          <a:p>
            <a:endParaRPr lang="en-US" b="1" dirty="0"/>
          </a:p>
          <a:p>
            <a:endParaRPr lang="en-US" b="1" dirty="0"/>
          </a:p>
          <a:p>
            <a:r>
              <a:rPr lang="en-US" sz="1600" dirty="0"/>
              <a:t>Role</a:t>
            </a:r>
            <a:r>
              <a:rPr lang="en-US" sz="1600" b="1" dirty="0"/>
              <a:t>:</a:t>
            </a:r>
            <a:r>
              <a:rPr lang="en-US" sz="1600" dirty="0"/>
              <a:t> High-Torque, Quantized Volumetric Control</a:t>
            </a:r>
            <a:br>
              <a:rPr lang="en-US" sz="1600" dirty="0"/>
            </a:br>
            <a:br>
              <a:rPr lang="en-US" sz="1600" dirty="0"/>
            </a:br>
            <a:br>
              <a:rPr lang="en-US" sz="1600" dirty="0"/>
            </a:br>
            <a:br>
              <a:rPr lang="en-US" sz="1600" dirty="0"/>
            </a:br>
            <a:r>
              <a:rPr lang="en-US" sz="1600" dirty="0"/>
              <a:t>Provides discrete, digitally controllable rotational steps for exact volumetric tracking without relying on analog spring-tension feedback.</a:t>
            </a:r>
          </a:p>
          <a:p>
            <a:endParaRPr lang="en-US" sz="1600" dirty="0"/>
          </a:p>
          <a:p>
            <a:endParaRPr lang="en-US" dirty="0"/>
          </a:p>
        </p:txBody>
      </p:sp>
      <p:sp>
        <p:nvSpPr>
          <p:cNvPr id="2" name="Date Placeholder 1">
            <a:extLst>
              <a:ext uri="{FF2B5EF4-FFF2-40B4-BE49-F238E27FC236}">
                <a16:creationId xmlns:a16="http://schemas.microsoft.com/office/drawing/2014/main" id="{8F17420D-D4E3-C15E-5E44-0EA77673B365}"/>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7ABB16E9-D5BB-45F7-5AB5-E4A6722AA2C9}"/>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3914820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31000">
              <a:schemeClr val="bg2">
                <a:lumMod val="90000"/>
              </a:schemeClr>
            </a:gs>
            <a:gs pos="83000">
              <a:schemeClr val="bg2"/>
            </a:gs>
            <a:gs pos="97000">
              <a:schemeClr val="bg2"/>
            </a:gs>
          </a:gsLst>
          <a:lin ang="5400000" scaled="1"/>
        </a:gradFill>
        <a:effectLst/>
      </p:bgPr>
    </p:bg>
    <p:spTree>
      <p:nvGrpSpPr>
        <p:cNvPr id="1" name="">
          <a:extLst>
            <a:ext uri="{FF2B5EF4-FFF2-40B4-BE49-F238E27FC236}">
              <a16:creationId xmlns:a16="http://schemas.microsoft.com/office/drawing/2014/main" id="{E6C91057-7845-098B-E08A-EA91419C10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DF173D-4F95-61B3-AC27-3B32D2F219EE}"/>
              </a:ext>
            </a:extLst>
          </p:cNvPr>
          <p:cNvSpPr>
            <a:spLocks noGrp="1"/>
          </p:cNvSpPr>
          <p:nvPr>
            <p:ph type="title"/>
          </p:nvPr>
        </p:nvSpPr>
        <p:spPr>
          <a:xfrm>
            <a:off x="429768" y="640079"/>
            <a:ext cx="11328844" cy="1305951"/>
          </a:xfrm>
        </p:spPr>
        <p:txBody>
          <a:bodyPr>
            <a:normAutofit/>
          </a:bodyPr>
          <a:lstStyle/>
          <a:p>
            <a:r>
              <a:rPr lang="en-US" sz="4800" dirty="0"/>
              <a:t>System architecture and mechanics</a:t>
            </a:r>
          </a:p>
        </p:txBody>
      </p:sp>
      <p:sp>
        <p:nvSpPr>
          <p:cNvPr id="3" name="Content Placeholder 2">
            <a:extLst>
              <a:ext uri="{FF2B5EF4-FFF2-40B4-BE49-F238E27FC236}">
                <a16:creationId xmlns:a16="http://schemas.microsoft.com/office/drawing/2014/main" id="{D16F47FD-A8F1-DD2E-6AE8-250E84881815}"/>
              </a:ext>
            </a:extLst>
          </p:cNvPr>
          <p:cNvSpPr>
            <a:spLocks noGrp="1"/>
          </p:cNvSpPr>
          <p:nvPr>
            <p:ph idx="1"/>
          </p:nvPr>
        </p:nvSpPr>
        <p:spPr>
          <a:xfrm>
            <a:off x="429768" y="1956816"/>
            <a:ext cx="11328844" cy="4901184"/>
          </a:xfrm>
        </p:spPr>
        <p:txBody>
          <a:bodyPr/>
          <a:lstStyle/>
          <a:p>
            <a:endParaRPr lang="en-US" dirty="0"/>
          </a:p>
        </p:txBody>
      </p:sp>
      <p:pic>
        <p:nvPicPr>
          <p:cNvPr id="7" name="Picture 6">
            <a:extLst>
              <a:ext uri="{FF2B5EF4-FFF2-40B4-BE49-F238E27FC236}">
                <a16:creationId xmlns:a16="http://schemas.microsoft.com/office/drawing/2014/main" id="{42F827F4-801E-F66C-5622-CA1F41A431BE}"/>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5608320" y="-5805870"/>
            <a:ext cx="18469475" cy="1679942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D782D557-00D4-8DC8-CFF3-CF346A0DD857}"/>
              </a:ext>
            </a:extLst>
          </p:cNvPr>
          <p:cNvSpPr txBox="1"/>
          <p:nvPr/>
        </p:nvSpPr>
        <p:spPr>
          <a:xfrm>
            <a:off x="3225235" y="4144557"/>
            <a:ext cx="7191980" cy="2893100"/>
          </a:xfrm>
          <a:prstGeom prst="rect">
            <a:avLst/>
          </a:prstGeom>
          <a:noFill/>
        </p:spPr>
        <p:txBody>
          <a:bodyPr wrap="square" rtlCol="0">
            <a:spAutoFit/>
          </a:bodyPr>
          <a:lstStyle/>
          <a:p>
            <a:r>
              <a:rPr lang="en-US" b="1" dirty="0"/>
              <a:t>Lead-Screw Precision Mechanism</a:t>
            </a:r>
          </a:p>
          <a:p>
            <a:endParaRPr lang="en-US" b="1" dirty="0"/>
          </a:p>
          <a:p>
            <a:r>
              <a:rPr lang="en-US" sz="1600" dirty="0"/>
              <a:t>Role</a:t>
            </a:r>
            <a:r>
              <a:rPr lang="en-US" sz="1600" b="1" dirty="0"/>
              <a:t>:</a:t>
            </a:r>
            <a:r>
              <a:rPr lang="en-US" sz="1600" dirty="0"/>
              <a:t> High-Resolution Rotary-to-Linear Translation</a:t>
            </a:r>
            <a:br>
              <a:rPr lang="en-US" sz="1600" dirty="0"/>
            </a:br>
            <a:br>
              <a:rPr lang="en-US" sz="1600" dirty="0"/>
            </a:br>
            <a:r>
              <a:rPr lang="en-US" sz="1600" dirty="0"/>
              <a:t>Acts as a mechanical gear reduction converting large, stepper rotations into micro scale, high torque linear piston movements.</a:t>
            </a:r>
          </a:p>
          <a:p>
            <a:endParaRPr lang="en-US" sz="1600" dirty="0"/>
          </a:p>
          <a:p>
            <a:r>
              <a:rPr lang="en-US" sz="1600" dirty="0"/>
              <a:t>The fine thread pitch of the screw allows for sub-microliter resolution, allowing the device to accurately dispense volumes of single microliter.</a:t>
            </a:r>
          </a:p>
          <a:p>
            <a:endParaRPr lang="en-US" sz="1600" dirty="0"/>
          </a:p>
          <a:p>
            <a:endParaRPr lang="en-US" dirty="0"/>
          </a:p>
        </p:txBody>
      </p:sp>
      <p:sp>
        <p:nvSpPr>
          <p:cNvPr id="2" name="Date Placeholder 1">
            <a:extLst>
              <a:ext uri="{FF2B5EF4-FFF2-40B4-BE49-F238E27FC236}">
                <a16:creationId xmlns:a16="http://schemas.microsoft.com/office/drawing/2014/main" id="{FD285E3E-E690-EFA4-F758-B06DED0BCFDC}"/>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B18CBCD8-C970-0949-A6DA-954745DFA217}"/>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662601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lumMod val="90000"/>
              </a:schemeClr>
            </a:gs>
            <a:gs pos="83000">
              <a:schemeClr val="bg2"/>
            </a:gs>
            <a:gs pos="97000">
              <a:schemeClr val="bg2"/>
            </a:gs>
          </a:gsLst>
          <a:lin ang="5400000" scaled="1"/>
        </a:gradFill>
        <a:effectLst/>
      </p:bgPr>
    </p:bg>
    <p:spTree>
      <p:nvGrpSpPr>
        <p:cNvPr id="1" name="">
          <a:extLst>
            <a:ext uri="{FF2B5EF4-FFF2-40B4-BE49-F238E27FC236}">
              <a16:creationId xmlns:a16="http://schemas.microsoft.com/office/drawing/2014/main" id="{0EF0C548-D682-5E13-6972-023D0C3AE5A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D85ECB-C45B-7E67-D925-728F1171F238}"/>
              </a:ext>
            </a:extLst>
          </p:cNvPr>
          <p:cNvSpPr>
            <a:spLocks noGrp="1"/>
          </p:cNvSpPr>
          <p:nvPr>
            <p:ph type="title"/>
          </p:nvPr>
        </p:nvSpPr>
        <p:spPr>
          <a:xfrm>
            <a:off x="429768" y="640079"/>
            <a:ext cx="11328844" cy="1305951"/>
          </a:xfrm>
        </p:spPr>
        <p:txBody>
          <a:bodyPr>
            <a:normAutofit/>
          </a:bodyPr>
          <a:lstStyle/>
          <a:p>
            <a:r>
              <a:rPr lang="en-US" sz="4800" dirty="0"/>
              <a:t>System architecture and mechanics</a:t>
            </a:r>
          </a:p>
        </p:txBody>
      </p:sp>
      <p:sp>
        <p:nvSpPr>
          <p:cNvPr id="3" name="Content Placeholder 2">
            <a:extLst>
              <a:ext uri="{FF2B5EF4-FFF2-40B4-BE49-F238E27FC236}">
                <a16:creationId xmlns:a16="http://schemas.microsoft.com/office/drawing/2014/main" id="{B136D42C-A1BD-7BC0-D4CB-94F6E0244979}"/>
              </a:ext>
            </a:extLst>
          </p:cNvPr>
          <p:cNvSpPr>
            <a:spLocks noGrp="1"/>
          </p:cNvSpPr>
          <p:nvPr>
            <p:ph idx="1"/>
          </p:nvPr>
        </p:nvSpPr>
        <p:spPr>
          <a:xfrm>
            <a:off x="429768" y="1956816"/>
            <a:ext cx="11328844" cy="4901184"/>
          </a:xfrm>
        </p:spPr>
        <p:txBody>
          <a:bodyPr/>
          <a:lstStyle/>
          <a:p>
            <a:endParaRPr lang="en-US" dirty="0"/>
          </a:p>
        </p:txBody>
      </p:sp>
      <p:pic>
        <p:nvPicPr>
          <p:cNvPr id="7" name="Picture 6">
            <a:extLst>
              <a:ext uri="{FF2B5EF4-FFF2-40B4-BE49-F238E27FC236}">
                <a16:creationId xmlns:a16="http://schemas.microsoft.com/office/drawing/2014/main" id="{825AAB26-28C4-7D09-5CB3-4677B7350142}"/>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932148" y="-5921617"/>
            <a:ext cx="18469475" cy="1679942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0686227B-BFC8-DEA8-EAE9-B77F7F39A420}"/>
              </a:ext>
            </a:extLst>
          </p:cNvPr>
          <p:cNvSpPr txBox="1"/>
          <p:nvPr/>
        </p:nvSpPr>
        <p:spPr>
          <a:xfrm>
            <a:off x="3225235" y="4144557"/>
            <a:ext cx="7191980" cy="2277547"/>
          </a:xfrm>
          <a:prstGeom prst="rect">
            <a:avLst/>
          </a:prstGeom>
          <a:noFill/>
        </p:spPr>
        <p:txBody>
          <a:bodyPr wrap="square" rtlCol="0">
            <a:spAutoFit/>
          </a:bodyPr>
          <a:lstStyle/>
          <a:p>
            <a:r>
              <a:rPr lang="en-US" b="1" dirty="0"/>
              <a:t>Air Displacement / Negative Pressure System</a:t>
            </a:r>
          </a:p>
          <a:p>
            <a:endParaRPr lang="en-US" b="1" dirty="0"/>
          </a:p>
          <a:p>
            <a:r>
              <a:rPr lang="en-US" sz="1600" dirty="0"/>
              <a:t>Role</a:t>
            </a:r>
            <a:r>
              <a:rPr lang="en-US" sz="1600" b="1" dirty="0"/>
              <a:t>:</a:t>
            </a:r>
            <a:r>
              <a:rPr lang="en-US" sz="1600" dirty="0"/>
              <a:t> </a:t>
            </a:r>
            <a:r>
              <a:rPr lang="en-US" dirty="0"/>
              <a:t> Non-Contact aspiration</a:t>
            </a:r>
            <a:br>
              <a:rPr lang="en-US" dirty="0"/>
            </a:br>
            <a:endParaRPr lang="en-US" dirty="0"/>
          </a:p>
          <a:p>
            <a:r>
              <a:rPr lang="en-US" dirty="0"/>
              <a:t>Integrates the lower half of an industry-standard, commercial mechanical pipette.</a:t>
            </a:r>
          </a:p>
          <a:p>
            <a:endParaRPr lang="en-US" sz="1600" dirty="0"/>
          </a:p>
          <a:p>
            <a:endParaRPr lang="en-US" dirty="0"/>
          </a:p>
        </p:txBody>
      </p:sp>
      <p:sp>
        <p:nvSpPr>
          <p:cNvPr id="2" name="Date Placeholder 1">
            <a:extLst>
              <a:ext uri="{FF2B5EF4-FFF2-40B4-BE49-F238E27FC236}">
                <a16:creationId xmlns:a16="http://schemas.microsoft.com/office/drawing/2014/main" id="{23136718-21DA-107A-6E44-CD0D36921630}"/>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BB36D367-2A0D-DE6B-6AEE-BE14006BADBD}"/>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023684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lumMod val="90000"/>
              </a:schemeClr>
            </a:gs>
            <a:gs pos="97000">
              <a:schemeClr val="bg2"/>
            </a:gs>
          </a:gsLst>
          <a:lin ang="540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AFC61-58D8-9A41-F18F-40FEBA2841FC}"/>
              </a:ext>
            </a:extLst>
          </p:cNvPr>
          <p:cNvSpPr>
            <a:spLocks noGrp="1"/>
          </p:cNvSpPr>
          <p:nvPr>
            <p:ph type="title"/>
          </p:nvPr>
        </p:nvSpPr>
        <p:spPr/>
        <p:txBody>
          <a:bodyPr/>
          <a:lstStyle/>
          <a:p>
            <a:r>
              <a:rPr lang="en-US" dirty="0"/>
              <a:t>Calibration Methodology</a:t>
            </a:r>
          </a:p>
        </p:txBody>
      </p:sp>
      <p:sp>
        <p:nvSpPr>
          <p:cNvPr id="5" name="Text Placeholder 4">
            <a:extLst>
              <a:ext uri="{FF2B5EF4-FFF2-40B4-BE49-F238E27FC236}">
                <a16:creationId xmlns:a16="http://schemas.microsoft.com/office/drawing/2014/main" id="{5A764EDF-39C3-ED92-46E1-AEB276A46B7F}"/>
              </a:ext>
            </a:extLst>
          </p:cNvPr>
          <p:cNvSpPr>
            <a:spLocks noGrp="1"/>
          </p:cNvSpPr>
          <p:nvPr>
            <p:ph type="body" sz="quarter" idx="13"/>
          </p:nvPr>
        </p:nvSpPr>
        <p:spPr>
          <a:xfrm>
            <a:off x="429767" y="1458638"/>
            <a:ext cx="5211762" cy="4343400"/>
          </a:xfrm>
        </p:spPr>
        <p:txBody>
          <a:bodyPr>
            <a:normAutofit fontScale="92500" lnSpcReduction="10000"/>
          </a:bodyPr>
          <a:lstStyle/>
          <a:p>
            <a:r>
              <a:rPr lang="en-US" dirty="0"/>
              <a:t>Method 1: Multi point gravimetric calibration (weighing dispensed volumes across the full range)</a:t>
            </a:r>
            <a:br>
              <a:rPr lang="en-US" dirty="0"/>
            </a:br>
            <a:br>
              <a:rPr lang="en-US" dirty="0"/>
            </a:br>
            <a:r>
              <a:rPr lang="en-US" b="1" dirty="0"/>
              <a:t>Purpose:</a:t>
            </a:r>
            <a:r>
              <a:rPr lang="en-US" dirty="0"/>
              <a:t> Establishes absolute accuracy and linearity across the entire 1–100 µL dynamic range.</a:t>
            </a:r>
          </a:p>
          <a:p>
            <a:r>
              <a:rPr lang="en-US" b="1" dirty="0"/>
              <a:t>Equipment:</a:t>
            </a:r>
            <a:r>
              <a:rPr lang="en-US" dirty="0"/>
              <a:t> Mettler Toledo analytical balance (0.1 mg resolution).</a:t>
            </a:r>
          </a:p>
          <a:p>
            <a:r>
              <a:rPr lang="en-US" b="1" dirty="0"/>
              <a:t>Process:</a:t>
            </a:r>
            <a:r>
              <a:rPr lang="en-US" dirty="0"/>
              <a:t> Iterative weighing of dispensed water at 10 distinct volume setpoints. Data was used to map mechanical non-linearities and generate the firmware's multi-point correction curve</a:t>
            </a:r>
          </a:p>
          <a:p>
            <a:endParaRPr lang="en-US" dirty="0"/>
          </a:p>
        </p:txBody>
      </p:sp>
      <p:sp>
        <p:nvSpPr>
          <p:cNvPr id="2" name="Text Placeholder 1">
            <a:extLst>
              <a:ext uri="{FF2B5EF4-FFF2-40B4-BE49-F238E27FC236}">
                <a16:creationId xmlns:a16="http://schemas.microsoft.com/office/drawing/2014/main" id="{FA30FD3D-0080-66F3-E6F0-7A3B8E99CF7D}"/>
              </a:ext>
            </a:extLst>
          </p:cNvPr>
          <p:cNvSpPr>
            <a:spLocks noGrp="1"/>
          </p:cNvSpPr>
          <p:nvPr>
            <p:ph type="body" sz="quarter" idx="14"/>
          </p:nvPr>
        </p:nvSpPr>
        <p:spPr>
          <a:xfrm>
            <a:off x="6381242" y="1458638"/>
            <a:ext cx="5213350" cy="4343400"/>
          </a:xfrm>
        </p:spPr>
        <p:txBody>
          <a:bodyPr>
            <a:normAutofit lnSpcReduction="10000"/>
          </a:bodyPr>
          <a:lstStyle/>
          <a:p>
            <a:r>
              <a:rPr lang="en-US" dirty="0"/>
              <a:t>Method 2: Spectrophotometric dye-dilution (absorbance at 665 nm as a proxy for volume CV)</a:t>
            </a:r>
          </a:p>
          <a:p>
            <a:r>
              <a:rPr lang="en-US" b="1" dirty="0"/>
              <a:t>Purpose:</a:t>
            </a:r>
            <a:r>
              <a:rPr lang="en-US" dirty="0"/>
              <a:t> Validates mechanical precision (repeatability) independent of scale-resolution limits.</a:t>
            </a:r>
          </a:p>
          <a:p>
            <a:r>
              <a:rPr lang="en-US" b="1" dirty="0"/>
              <a:t>Equipment:</a:t>
            </a:r>
            <a:r>
              <a:rPr lang="en-US" dirty="0"/>
              <a:t> </a:t>
            </a:r>
            <a:r>
              <a:rPr lang="en-US" dirty="0" err="1"/>
              <a:t>DeNovix</a:t>
            </a:r>
            <a:r>
              <a:rPr lang="en-US" dirty="0"/>
              <a:t> spectrophotometer.</a:t>
            </a:r>
          </a:p>
          <a:p>
            <a:r>
              <a:rPr lang="en-US" b="1" dirty="0"/>
              <a:t>Process:</a:t>
            </a:r>
            <a:r>
              <a:rPr lang="en-US" dirty="0"/>
              <a:t> Dispensing Methylene Blue solution aliquots (10 µL and 50 µL) into a fixed diluent. Peak absorbance at 661 nm was used to calculate the Coefficient of Variation (CV%) of dispensed volume.</a:t>
            </a:r>
          </a:p>
          <a:p>
            <a:endParaRPr lang="en-US" dirty="0"/>
          </a:p>
        </p:txBody>
      </p:sp>
      <p:pic>
        <p:nvPicPr>
          <p:cNvPr id="8" name="Picture 7">
            <a:extLst>
              <a:ext uri="{FF2B5EF4-FFF2-40B4-BE49-F238E27FC236}">
                <a16:creationId xmlns:a16="http://schemas.microsoft.com/office/drawing/2014/main" id="{F0F7D08F-0842-11E0-27E9-0D62D97CB6B8}"/>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873365" y="1566978"/>
            <a:ext cx="9536327" cy="8674033"/>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3" name="Date Placeholder 2">
            <a:extLst>
              <a:ext uri="{FF2B5EF4-FFF2-40B4-BE49-F238E27FC236}">
                <a16:creationId xmlns:a16="http://schemas.microsoft.com/office/drawing/2014/main" id="{873AC5C7-B621-3445-B938-E4DD90BEC1BD}"/>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EC26E2C0-4061-22D8-9599-D9888C88B1A4}"/>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284621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lumMod val="90000"/>
              </a:schemeClr>
            </a:gs>
            <a:gs pos="97000">
              <a:schemeClr val="bg2"/>
            </a:gs>
          </a:gsLst>
          <a:lin ang="5400000" scaled="1"/>
        </a:gradFill>
        <a:effectLst/>
      </p:bgPr>
    </p:bg>
    <p:spTree>
      <p:nvGrpSpPr>
        <p:cNvPr id="1" name="">
          <a:extLst>
            <a:ext uri="{FF2B5EF4-FFF2-40B4-BE49-F238E27FC236}">
              <a16:creationId xmlns:a16="http://schemas.microsoft.com/office/drawing/2014/main" id="{903FE791-317E-1347-4A5C-237583E9BD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DF24E3-1440-0967-8296-8EE60AA5681E}"/>
              </a:ext>
            </a:extLst>
          </p:cNvPr>
          <p:cNvSpPr>
            <a:spLocks noGrp="1"/>
          </p:cNvSpPr>
          <p:nvPr>
            <p:ph type="title"/>
          </p:nvPr>
        </p:nvSpPr>
        <p:spPr/>
        <p:txBody>
          <a:bodyPr/>
          <a:lstStyle/>
          <a:p>
            <a:endParaRPr lang="en-US" dirty="0"/>
          </a:p>
        </p:txBody>
      </p:sp>
      <p:sp>
        <p:nvSpPr>
          <p:cNvPr id="5" name="Text Placeholder 4">
            <a:extLst>
              <a:ext uri="{FF2B5EF4-FFF2-40B4-BE49-F238E27FC236}">
                <a16:creationId xmlns:a16="http://schemas.microsoft.com/office/drawing/2014/main" id="{D4A15C1D-BA96-D384-D6AF-27682799084B}"/>
              </a:ext>
            </a:extLst>
          </p:cNvPr>
          <p:cNvSpPr>
            <a:spLocks noGrp="1"/>
          </p:cNvSpPr>
          <p:nvPr>
            <p:ph type="body" sz="quarter" idx="13"/>
          </p:nvPr>
        </p:nvSpPr>
        <p:spPr>
          <a:xfrm>
            <a:off x="429767" y="1458638"/>
            <a:ext cx="5211762" cy="4343400"/>
          </a:xfrm>
        </p:spPr>
        <p:txBody>
          <a:bodyPr>
            <a:normAutofit fontScale="92500" lnSpcReduction="10000"/>
          </a:bodyPr>
          <a:lstStyle/>
          <a:p>
            <a:r>
              <a:rPr lang="en-US" dirty="0"/>
              <a:t>Method 1: Multi point gravimetric calibration (weighing dispensed volumes across the full range)</a:t>
            </a:r>
            <a:br>
              <a:rPr lang="en-US" dirty="0"/>
            </a:br>
            <a:br>
              <a:rPr lang="en-US" dirty="0"/>
            </a:br>
            <a:r>
              <a:rPr lang="en-US" b="1" dirty="0"/>
              <a:t>Purpose:</a:t>
            </a:r>
            <a:r>
              <a:rPr lang="en-US" dirty="0"/>
              <a:t> Establishes absolute accuracy and linearity across the entire 1–100 µL dynamic range.</a:t>
            </a:r>
          </a:p>
          <a:p>
            <a:r>
              <a:rPr lang="en-US" b="1" dirty="0"/>
              <a:t>Equipment:</a:t>
            </a:r>
            <a:r>
              <a:rPr lang="en-US" dirty="0"/>
              <a:t> Mettler Toledo analytical balance (0.1 mg resolution).</a:t>
            </a:r>
          </a:p>
          <a:p>
            <a:r>
              <a:rPr lang="en-US" b="1" dirty="0"/>
              <a:t>Process:</a:t>
            </a:r>
            <a:r>
              <a:rPr lang="en-US" dirty="0"/>
              <a:t> Iterative weighing of dispensed water at 10 distinct volume setpoints. Data was used to map mechanical non-linearities and generate the firmware's multi-point correction curve</a:t>
            </a:r>
          </a:p>
          <a:p>
            <a:endParaRPr lang="en-US" dirty="0"/>
          </a:p>
        </p:txBody>
      </p:sp>
      <p:sp>
        <p:nvSpPr>
          <p:cNvPr id="2" name="Text Placeholder 1">
            <a:extLst>
              <a:ext uri="{FF2B5EF4-FFF2-40B4-BE49-F238E27FC236}">
                <a16:creationId xmlns:a16="http://schemas.microsoft.com/office/drawing/2014/main" id="{8DFE169E-C257-B39D-1485-6859760833DD}"/>
              </a:ext>
            </a:extLst>
          </p:cNvPr>
          <p:cNvSpPr>
            <a:spLocks noGrp="1"/>
          </p:cNvSpPr>
          <p:nvPr>
            <p:ph type="body" sz="quarter" idx="14"/>
          </p:nvPr>
        </p:nvSpPr>
        <p:spPr>
          <a:xfrm>
            <a:off x="6381242" y="1458638"/>
            <a:ext cx="5213350" cy="4343400"/>
          </a:xfrm>
        </p:spPr>
        <p:txBody>
          <a:bodyPr>
            <a:normAutofit lnSpcReduction="10000"/>
          </a:bodyPr>
          <a:lstStyle/>
          <a:p>
            <a:r>
              <a:rPr lang="en-US" dirty="0"/>
              <a:t>Method 2: Spectrophotometric dye-dilution (absorbance at 665 nm as a proxy for volume CV)</a:t>
            </a:r>
          </a:p>
          <a:p>
            <a:r>
              <a:rPr lang="en-US" b="1" dirty="0"/>
              <a:t>Purpose:</a:t>
            </a:r>
            <a:r>
              <a:rPr lang="en-US" dirty="0"/>
              <a:t> Validates mechanical precision (repeatability) independent of scale-resolution limits.</a:t>
            </a:r>
          </a:p>
          <a:p>
            <a:r>
              <a:rPr lang="en-US" b="1" dirty="0"/>
              <a:t>Equipment:</a:t>
            </a:r>
            <a:r>
              <a:rPr lang="en-US" dirty="0"/>
              <a:t> </a:t>
            </a:r>
            <a:r>
              <a:rPr lang="en-US" dirty="0" err="1"/>
              <a:t>DeNovix</a:t>
            </a:r>
            <a:r>
              <a:rPr lang="en-US" dirty="0"/>
              <a:t> spectrophotometer.</a:t>
            </a:r>
          </a:p>
          <a:p>
            <a:r>
              <a:rPr lang="en-US" b="1" dirty="0"/>
              <a:t>Process:</a:t>
            </a:r>
            <a:r>
              <a:rPr lang="en-US" dirty="0"/>
              <a:t> Dispensing Methylene Blue solution aliquots (10 µL and 50 µL) into a fixed diluent. Peak absorbance at 665 nm was used to calculate the Coefficient of Variation (CV%) of dispensed volume.</a:t>
            </a:r>
          </a:p>
          <a:p>
            <a:endParaRPr lang="en-US" dirty="0"/>
          </a:p>
        </p:txBody>
      </p:sp>
      <p:pic>
        <p:nvPicPr>
          <p:cNvPr id="8" name="Picture 7">
            <a:extLst>
              <a:ext uri="{FF2B5EF4-FFF2-40B4-BE49-F238E27FC236}">
                <a16:creationId xmlns:a16="http://schemas.microsoft.com/office/drawing/2014/main" id="{AE293892-FAF1-A5F6-1E85-47AF8F8CB896}"/>
              </a:ext>
            </a:extLst>
          </p:cNvPr>
          <p:cNvPicPr>
            <a:picLocks noChangeAspect="1"/>
          </p:cNvPicPr>
          <p:nvPr/>
        </p:nvPicPr>
        <p:blipFill>
          <a:blip r:embed="rId3">
            <a:extLst>
              <a:ext uri="{28A0092B-C50C-407E-A947-70E740481C1C}">
                <a14:useLocalDpi xmlns:a14="http://schemas.microsoft.com/office/drawing/2010/main" val="0"/>
              </a:ext>
            </a:extLst>
          </a:blip>
          <a:srcRect l="6361" r="10910" b="2"/>
          <a:stretch>
            <a:fillRect/>
          </a:stretch>
        </p:blipFill>
        <p:spPr>
          <a:xfrm>
            <a:off x="1327836" y="9766098"/>
            <a:ext cx="9536327" cy="8674033"/>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5083FCDA-20D8-7CBD-BBE8-2848CB7F7118}"/>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3955D8F2-6E5C-21A7-49FC-8BFCAA0FB1B7}"/>
              </a:ext>
            </a:extLst>
          </p:cNvPr>
          <p:cNvSpPr>
            <a:spLocks noGrp="1"/>
          </p:cNvSpPr>
          <p:nvPr>
            <p:ph type="dt" sz="half" idx="10"/>
          </p:nvPr>
        </p:nvSpPr>
        <p:spPr/>
        <p:txBody>
          <a:bodyPr/>
          <a:lstStyle/>
          <a:p>
            <a:r>
              <a:rPr lang="en-US"/>
              <a:t>7/2/2026</a:t>
            </a:r>
            <a:endParaRPr lang="en-US" dirty="0"/>
          </a:p>
        </p:txBody>
      </p:sp>
      <p:sp>
        <p:nvSpPr>
          <p:cNvPr id="6" name="Footer Placeholder 5">
            <a:extLst>
              <a:ext uri="{FF2B5EF4-FFF2-40B4-BE49-F238E27FC236}">
                <a16:creationId xmlns:a16="http://schemas.microsoft.com/office/drawing/2014/main" id="{36DE0584-E583-6904-1006-193FF3ED4B03}"/>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447360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0000">
              <a:schemeClr val="bg2"/>
            </a:gs>
            <a:gs pos="36000">
              <a:schemeClr val="bg2">
                <a:lumMod val="90000"/>
              </a:schemeClr>
            </a:gs>
            <a:gs pos="97000">
              <a:schemeClr val="bg2"/>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a:xfrm>
            <a:off x="429768" y="411480"/>
            <a:ext cx="11045952" cy="1828800"/>
          </a:xfrm>
        </p:spPr>
        <p:txBody>
          <a:bodyPr anchor="t">
            <a:normAutofit/>
          </a:bodyPr>
          <a:lstStyle/>
          <a:p>
            <a:r>
              <a:rPr lang="en-US" sz="6200"/>
              <a:t>Spectrophotometric Dye-Dilution Analysis</a:t>
            </a:r>
          </a:p>
        </p:txBody>
      </p:sp>
      <p:sp>
        <p:nvSpPr>
          <p:cNvPr id="3" name="Content Placeholder 2">
            <a:extLst>
              <a:ext uri="{FF2B5EF4-FFF2-40B4-BE49-F238E27FC236}">
                <a16:creationId xmlns:a16="http://schemas.microsoft.com/office/drawing/2014/main" id="{A36B70B6-B9DD-8293-E045-C9E0BE21FEB2}"/>
              </a:ext>
            </a:extLst>
          </p:cNvPr>
          <p:cNvSpPr>
            <a:spLocks noGrp="1"/>
          </p:cNvSpPr>
          <p:nvPr>
            <p:ph sz="quarter" idx="13"/>
          </p:nvPr>
        </p:nvSpPr>
        <p:spPr>
          <a:xfrm>
            <a:off x="6272784" y="2423160"/>
            <a:ext cx="5202936" cy="3858768"/>
          </a:xfrm>
        </p:spPr>
        <p:txBody>
          <a:bodyPr>
            <a:normAutofit/>
          </a:bodyPr>
          <a:lstStyle/>
          <a:p>
            <a:pPr marL="0" indent="0">
              <a:buNone/>
            </a:pPr>
            <a:r>
              <a:rPr lang="en-US" dirty="0"/>
              <a:t>Using dye-dilution and measuring absorbance at 661 nm, the %CV in absorbance acts as a direct proxy for the %CV in volume.</a:t>
            </a:r>
            <a:br>
              <a:rPr lang="en-US" dirty="0"/>
            </a:br>
            <a:br>
              <a:rPr lang="en-US" dirty="0"/>
            </a:br>
            <a:r>
              <a:rPr lang="en-US" dirty="0"/>
              <a:t>The following slides detail the performance breakdown at 50uL and 10uL.</a:t>
            </a:r>
          </a:p>
        </p:txBody>
      </p:sp>
      <p:sp>
        <p:nvSpPr>
          <p:cNvPr id="4" name="Date Placeholder 3">
            <a:extLst>
              <a:ext uri="{FF2B5EF4-FFF2-40B4-BE49-F238E27FC236}">
                <a16:creationId xmlns:a16="http://schemas.microsoft.com/office/drawing/2014/main" id="{41B93E90-3B62-5ED0-251C-1A3521665933}"/>
              </a:ext>
            </a:extLst>
          </p:cNvPr>
          <p:cNvSpPr>
            <a:spLocks noGrp="1"/>
          </p:cNvSpPr>
          <p:nvPr>
            <p:ph type="dt" sz="half" idx="10"/>
          </p:nvPr>
        </p:nvSpPr>
        <p:spPr/>
        <p:txBody>
          <a:bodyPr/>
          <a:lstStyle/>
          <a:p>
            <a:r>
              <a:rPr lang="en-US"/>
              <a:t>7/2/2026</a:t>
            </a:r>
            <a:endParaRPr lang="en-US" dirty="0"/>
          </a:p>
        </p:txBody>
      </p:sp>
      <p:sp>
        <p:nvSpPr>
          <p:cNvPr id="5" name="Footer Placeholder 4">
            <a:extLst>
              <a:ext uri="{FF2B5EF4-FFF2-40B4-BE49-F238E27FC236}">
                <a16:creationId xmlns:a16="http://schemas.microsoft.com/office/drawing/2014/main" id="{7B9D339F-C65B-DA52-1573-D13370549E75}"/>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879275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F19FA3B-2666-E9C0-246F-01CD96A46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198F9-2B69-CB72-DFB7-D2439E00A818}"/>
              </a:ext>
            </a:extLst>
          </p:cNvPr>
          <p:cNvSpPr>
            <a:spLocks noGrp="1"/>
          </p:cNvSpPr>
          <p:nvPr>
            <p:ph type="title"/>
          </p:nvPr>
        </p:nvSpPr>
        <p:spPr/>
        <p:txBody>
          <a:bodyPr anchor="t">
            <a:noAutofit/>
          </a:bodyPr>
          <a:lstStyle/>
          <a:p>
            <a:r>
              <a:rPr lang="en-US" sz="4000" dirty="0"/>
              <a:t>Spectrophotometric Dye-Dilution Analysis – 50uL Performance</a:t>
            </a:r>
          </a:p>
        </p:txBody>
      </p:sp>
      <p:sp>
        <p:nvSpPr>
          <p:cNvPr id="3" name="Content Placeholder 2">
            <a:extLst>
              <a:ext uri="{FF2B5EF4-FFF2-40B4-BE49-F238E27FC236}">
                <a16:creationId xmlns:a16="http://schemas.microsoft.com/office/drawing/2014/main" id="{A39A8ACA-2ACF-C7D2-A141-84AA0288378E}"/>
              </a:ext>
            </a:extLst>
          </p:cNvPr>
          <p:cNvSpPr>
            <a:spLocks noGrp="1"/>
          </p:cNvSpPr>
          <p:nvPr>
            <p:ph type="body" sz="quarter" idx="13"/>
          </p:nvPr>
        </p:nvSpPr>
        <p:spPr/>
        <p:txBody>
          <a:bodyPr>
            <a:normAutofit/>
          </a:bodyPr>
          <a:lstStyle/>
          <a:p>
            <a:pPr marL="0" indent="0">
              <a:buNone/>
            </a:pPr>
            <a:endParaRPr lang="en-US" dirty="0"/>
          </a:p>
        </p:txBody>
      </p:sp>
      <p:sp>
        <p:nvSpPr>
          <p:cNvPr id="4" name="Text Placeholder 3">
            <a:extLst>
              <a:ext uri="{FF2B5EF4-FFF2-40B4-BE49-F238E27FC236}">
                <a16:creationId xmlns:a16="http://schemas.microsoft.com/office/drawing/2014/main" id="{697C7F00-F25D-BC75-FD3B-EF8D196F2C16}"/>
              </a:ext>
            </a:extLst>
          </p:cNvPr>
          <p:cNvSpPr>
            <a:spLocks noGrp="1"/>
          </p:cNvSpPr>
          <p:nvPr>
            <p:ph type="body" sz="quarter" idx="14"/>
          </p:nvPr>
        </p:nvSpPr>
        <p:spPr/>
        <p:txBody>
          <a:bodyPr/>
          <a:lstStyle/>
          <a:p>
            <a:endParaRPr lang="en-US" dirty="0"/>
          </a:p>
        </p:txBody>
      </p:sp>
      <p:graphicFrame>
        <p:nvGraphicFramePr>
          <p:cNvPr id="6" name="Table 5">
            <a:extLst>
              <a:ext uri="{FF2B5EF4-FFF2-40B4-BE49-F238E27FC236}">
                <a16:creationId xmlns:a16="http://schemas.microsoft.com/office/drawing/2014/main" id="{97A22BB3-2F3A-6506-BCAA-65ED2DE8052C}"/>
              </a:ext>
            </a:extLst>
          </p:cNvPr>
          <p:cNvGraphicFramePr>
            <a:graphicFrameLocks noGrp="1"/>
          </p:cNvGraphicFramePr>
          <p:nvPr>
            <p:extLst>
              <p:ext uri="{D42A27DB-BD31-4B8C-83A1-F6EECF244321}">
                <p14:modId xmlns:p14="http://schemas.microsoft.com/office/powerpoint/2010/main" val="825933906"/>
              </p:ext>
            </p:extLst>
          </p:nvPr>
        </p:nvGraphicFramePr>
        <p:xfrm>
          <a:off x="41140" y="1512249"/>
          <a:ext cx="5474972" cy="2307336"/>
        </p:xfrm>
        <a:graphic>
          <a:graphicData uri="http://schemas.openxmlformats.org/drawingml/2006/table">
            <a:tbl>
              <a:tblPr firstRow="1" bandRow="1">
                <a:solidFill>
                  <a:schemeClr val="bg2"/>
                </a:solidFill>
                <a:tableStyleId>{21E4AEA4-8DFA-4A89-87EB-49C32662AFE0}</a:tableStyleId>
              </a:tblPr>
              <a:tblGrid>
                <a:gridCol w="1368743">
                  <a:extLst>
                    <a:ext uri="{9D8B030D-6E8A-4147-A177-3AD203B41FA5}">
                      <a16:colId xmlns:a16="http://schemas.microsoft.com/office/drawing/2014/main" val="3016644333"/>
                    </a:ext>
                  </a:extLst>
                </a:gridCol>
                <a:gridCol w="1368743">
                  <a:extLst>
                    <a:ext uri="{9D8B030D-6E8A-4147-A177-3AD203B41FA5}">
                      <a16:colId xmlns:a16="http://schemas.microsoft.com/office/drawing/2014/main" val="3215222151"/>
                    </a:ext>
                  </a:extLst>
                </a:gridCol>
                <a:gridCol w="1368743">
                  <a:extLst>
                    <a:ext uri="{9D8B030D-6E8A-4147-A177-3AD203B41FA5}">
                      <a16:colId xmlns:a16="http://schemas.microsoft.com/office/drawing/2014/main" val="568643559"/>
                    </a:ext>
                  </a:extLst>
                </a:gridCol>
                <a:gridCol w="1368743">
                  <a:extLst>
                    <a:ext uri="{9D8B030D-6E8A-4147-A177-3AD203B41FA5}">
                      <a16:colId xmlns:a16="http://schemas.microsoft.com/office/drawing/2014/main" val="158219136"/>
                    </a:ext>
                  </a:extLst>
                </a:gridCol>
              </a:tblGrid>
              <a:tr h="776058">
                <a:tc>
                  <a:txBody>
                    <a:bodyPr/>
                    <a:lstStyle/>
                    <a:p>
                      <a:r>
                        <a:rPr lang="en-US" sz="1600" dirty="0"/>
                        <a:t>Metric</a:t>
                      </a:r>
                    </a:p>
                  </a:txBody>
                  <a:tcPr/>
                </a:tc>
                <a:tc>
                  <a:txBody>
                    <a:bodyPr/>
                    <a:lstStyle/>
                    <a:p>
                      <a:r>
                        <a:rPr lang="en-US" sz="1600" dirty="0"/>
                        <a:t>CV%</a:t>
                      </a:r>
                    </a:p>
                  </a:txBody>
                  <a:tcPr/>
                </a:tc>
                <a:tc>
                  <a:txBody>
                    <a:bodyPr/>
                    <a:lstStyle/>
                    <a:p>
                      <a:r>
                        <a:rPr lang="en-US" sz="1600" dirty="0"/>
                        <a:t>Volume </a:t>
                      </a:r>
                    </a:p>
                    <a:p>
                      <a:r>
                        <a:rPr lang="en-US" sz="1600" dirty="0"/>
                        <a:t>SD (50uL)</a:t>
                      </a:r>
                    </a:p>
                  </a:txBody>
                  <a:tcPr/>
                </a:tc>
                <a:tc>
                  <a:txBody>
                    <a:bodyPr/>
                    <a:lstStyle/>
                    <a:p>
                      <a:r>
                        <a:rPr lang="en-US" sz="1600" dirty="0"/>
                        <a:t>Volume </a:t>
                      </a:r>
                      <a:r>
                        <a:rPr lang="en-US" sz="1600" dirty="0" err="1"/>
                        <a:t>Varience</a:t>
                      </a:r>
                      <a:endParaRPr lang="en-US" sz="1600" dirty="0"/>
                    </a:p>
                  </a:txBody>
                  <a:tcPr/>
                </a:tc>
                <a:extLst>
                  <a:ext uri="{0D108BD9-81ED-4DB2-BD59-A6C34878D82A}">
                    <a16:rowId xmlns:a16="http://schemas.microsoft.com/office/drawing/2014/main" val="188431977"/>
                  </a:ext>
                </a:extLst>
              </a:tr>
              <a:tr h="765639">
                <a:tc>
                  <a:txBody>
                    <a:bodyPr/>
                    <a:lstStyle/>
                    <a:p>
                      <a:r>
                        <a:rPr lang="en-US" sz="1600" dirty="0"/>
                        <a:t>Instrument</a:t>
                      </a:r>
                    </a:p>
                    <a:p>
                      <a:r>
                        <a:rPr lang="en-US" sz="1600" dirty="0"/>
                        <a:t>repeatability</a:t>
                      </a:r>
                    </a:p>
                  </a:txBody>
                  <a:tcPr/>
                </a:tc>
                <a:tc>
                  <a:txBody>
                    <a:bodyPr/>
                    <a:lstStyle/>
                    <a:p>
                      <a:r>
                        <a:rPr lang="en-US" sz="1600" dirty="0"/>
                        <a:t>0.37%</a:t>
                      </a:r>
                    </a:p>
                  </a:txBody>
                  <a:tcPr/>
                </a:tc>
                <a:tc>
                  <a:txBody>
                    <a:bodyPr/>
                    <a:lstStyle/>
                    <a:p>
                      <a:r>
                        <a:rPr lang="en-US" sz="1600" dirty="0"/>
                        <a:t>0.19uL</a:t>
                      </a:r>
                    </a:p>
                  </a:txBody>
                  <a:tcPr/>
                </a:tc>
                <a:tc>
                  <a:txBody>
                    <a:bodyPr/>
                    <a:lstStyle/>
                    <a:p>
                      <a:r>
                        <a:rPr lang="en-US" sz="1600" dirty="0"/>
                        <a:t>0.034 µL²</a:t>
                      </a:r>
                    </a:p>
                  </a:txBody>
                  <a:tcPr/>
                </a:tc>
                <a:extLst>
                  <a:ext uri="{0D108BD9-81ED-4DB2-BD59-A6C34878D82A}">
                    <a16:rowId xmlns:a16="http://schemas.microsoft.com/office/drawing/2014/main" val="2286246122"/>
                  </a:ext>
                </a:extLst>
              </a:tr>
              <a:tr h="765639">
                <a:tc>
                  <a:txBody>
                    <a:bodyPr/>
                    <a:lstStyle/>
                    <a:p>
                      <a:r>
                        <a:rPr lang="en-US" sz="1600" dirty="0"/>
                        <a:t>Pipette Variation</a:t>
                      </a:r>
                    </a:p>
                  </a:txBody>
                  <a:tcPr/>
                </a:tc>
                <a:tc>
                  <a:txBody>
                    <a:bodyPr/>
                    <a:lstStyle/>
                    <a:p>
                      <a:r>
                        <a:rPr lang="en-US" sz="1600" dirty="0"/>
                        <a:t>0.59%</a:t>
                      </a:r>
                    </a:p>
                  </a:txBody>
                  <a:tcPr/>
                </a:tc>
                <a:tc>
                  <a:txBody>
                    <a:bodyPr/>
                    <a:lstStyle/>
                    <a:p>
                      <a:r>
                        <a:rPr lang="en-US" sz="1600" dirty="0"/>
                        <a:t>0.29 µL</a:t>
                      </a:r>
                    </a:p>
                  </a:txBody>
                  <a:tcPr/>
                </a:tc>
                <a:tc>
                  <a:txBody>
                    <a:bodyPr/>
                    <a:lstStyle/>
                    <a:p>
                      <a:r>
                        <a:rPr lang="en-US" sz="1600" dirty="0"/>
                        <a:t>0.086 µL²</a:t>
                      </a:r>
                    </a:p>
                  </a:txBody>
                  <a:tcPr/>
                </a:tc>
                <a:extLst>
                  <a:ext uri="{0D108BD9-81ED-4DB2-BD59-A6C34878D82A}">
                    <a16:rowId xmlns:a16="http://schemas.microsoft.com/office/drawing/2014/main" val="1537877748"/>
                  </a:ext>
                </a:extLst>
              </a:tr>
            </a:tbl>
          </a:graphicData>
        </a:graphic>
      </p:graphicFrame>
      <p:pic>
        <p:nvPicPr>
          <p:cNvPr id="8" name="Picture 7">
            <a:extLst>
              <a:ext uri="{FF2B5EF4-FFF2-40B4-BE49-F238E27FC236}">
                <a16:creationId xmlns:a16="http://schemas.microsoft.com/office/drawing/2014/main" id="{91538475-AD13-610B-DEF6-6B1F8C7E0A57}"/>
              </a:ext>
            </a:extLst>
          </p:cNvPr>
          <p:cNvPicPr>
            <a:picLocks noChangeAspect="1"/>
          </p:cNvPicPr>
          <p:nvPr/>
        </p:nvPicPr>
        <p:blipFill>
          <a:blip r:embed="rId3"/>
          <a:stretch>
            <a:fillRect/>
          </a:stretch>
        </p:blipFill>
        <p:spPr>
          <a:xfrm>
            <a:off x="5424899" y="893946"/>
            <a:ext cx="5304563" cy="3185160"/>
          </a:xfrm>
          <a:prstGeom prst="rect">
            <a:avLst/>
          </a:prstGeom>
        </p:spPr>
      </p:pic>
      <p:pic>
        <p:nvPicPr>
          <p:cNvPr id="10" name="Picture 9">
            <a:extLst>
              <a:ext uri="{FF2B5EF4-FFF2-40B4-BE49-F238E27FC236}">
                <a16:creationId xmlns:a16="http://schemas.microsoft.com/office/drawing/2014/main" id="{D8D90DFC-2D7B-9A40-58EB-FBAB31B1ADBD}"/>
              </a:ext>
            </a:extLst>
          </p:cNvPr>
          <p:cNvPicPr>
            <a:picLocks noChangeAspect="1"/>
          </p:cNvPicPr>
          <p:nvPr/>
        </p:nvPicPr>
        <p:blipFill>
          <a:blip r:embed="rId4"/>
          <a:stretch>
            <a:fillRect/>
          </a:stretch>
        </p:blipFill>
        <p:spPr>
          <a:xfrm>
            <a:off x="6989131" y="3900370"/>
            <a:ext cx="5096691" cy="3054524"/>
          </a:xfrm>
          <a:prstGeom prst="rect">
            <a:avLst/>
          </a:prstGeom>
        </p:spPr>
      </p:pic>
      <p:pic>
        <p:nvPicPr>
          <p:cNvPr id="14" name="Picture 13">
            <a:extLst>
              <a:ext uri="{FF2B5EF4-FFF2-40B4-BE49-F238E27FC236}">
                <a16:creationId xmlns:a16="http://schemas.microsoft.com/office/drawing/2014/main" id="{2CD13962-3C2A-F68D-50C0-A3A8EA9BEB91}"/>
              </a:ext>
            </a:extLst>
          </p:cNvPr>
          <p:cNvPicPr>
            <a:picLocks noChangeAspect="1"/>
          </p:cNvPicPr>
          <p:nvPr/>
        </p:nvPicPr>
        <p:blipFill>
          <a:blip r:embed="rId5"/>
          <a:stretch>
            <a:fillRect/>
          </a:stretch>
        </p:blipFill>
        <p:spPr>
          <a:xfrm>
            <a:off x="1112389" y="3819585"/>
            <a:ext cx="4117973" cy="3088480"/>
          </a:xfrm>
          <a:prstGeom prst="rect">
            <a:avLst/>
          </a:prstGeom>
        </p:spPr>
      </p:pic>
      <p:sp>
        <p:nvSpPr>
          <p:cNvPr id="5" name="Date Placeholder 4">
            <a:extLst>
              <a:ext uri="{FF2B5EF4-FFF2-40B4-BE49-F238E27FC236}">
                <a16:creationId xmlns:a16="http://schemas.microsoft.com/office/drawing/2014/main" id="{CCC073A3-3288-481F-3137-2F235FFF9D29}"/>
              </a:ext>
            </a:extLst>
          </p:cNvPr>
          <p:cNvSpPr>
            <a:spLocks noGrp="1"/>
          </p:cNvSpPr>
          <p:nvPr>
            <p:ph type="dt" sz="half" idx="10"/>
          </p:nvPr>
        </p:nvSpPr>
        <p:spPr/>
        <p:txBody>
          <a:bodyPr/>
          <a:lstStyle/>
          <a:p>
            <a:r>
              <a:rPr lang="en-US"/>
              <a:t>7/2/2026</a:t>
            </a:r>
            <a:endParaRPr lang="en-US" dirty="0"/>
          </a:p>
        </p:txBody>
      </p:sp>
      <p:sp>
        <p:nvSpPr>
          <p:cNvPr id="7" name="Footer Placeholder 6">
            <a:extLst>
              <a:ext uri="{FF2B5EF4-FFF2-40B4-BE49-F238E27FC236}">
                <a16:creationId xmlns:a16="http://schemas.microsoft.com/office/drawing/2014/main" id="{989291F5-D899-355F-1417-483B7B7D844C}"/>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942878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0000">
              <a:schemeClr val="bg2"/>
            </a:gs>
            <a:gs pos="36000">
              <a:schemeClr val="bg2">
                <a:lumMod val="90000"/>
              </a:schemeClr>
            </a:gs>
            <a:gs pos="97000">
              <a:schemeClr val="bg2"/>
            </a:gs>
          </a:gsLst>
          <a:lin ang="5400000" scaled="1"/>
        </a:gradFill>
        <a:effectLst/>
      </p:bgPr>
    </p:bg>
    <p:spTree>
      <p:nvGrpSpPr>
        <p:cNvPr id="1" name="">
          <a:extLst>
            <a:ext uri="{FF2B5EF4-FFF2-40B4-BE49-F238E27FC236}">
              <a16:creationId xmlns:a16="http://schemas.microsoft.com/office/drawing/2014/main" id="{86F4CA61-0E5C-E2E7-CBE1-56FCE88B683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E8A53D9-3F1E-4CA2-FFCB-94A95A03BF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16111" y="773488"/>
            <a:ext cx="5304562" cy="3185160"/>
          </a:xfrm>
          <a:prstGeom prst="rect">
            <a:avLst/>
          </a:prstGeom>
        </p:spPr>
      </p:pic>
      <p:sp>
        <p:nvSpPr>
          <p:cNvPr id="2" name="Title 1">
            <a:extLst>
              <a:ext uri="{FF2B5EF4-FFF2-40B4-BE49-F238E27FC236}">
                <a16:creationId xmlns:a16="http://schemas.microsoft.com/office/drawing/2014/main" id="{5E63C079-0759-4F13-08E7-64F08CAB0253}"/>
              </a:ext>
            </a:extLst>
          </p:cNvPr>
          <p:cNvSpPr>
            <a:spLocks noGrp="1"/>
          </p:cNvSpPr>
          <p:nvPr>
            <p:ph type="title"/>
          </p:nvPr>
        </p:nvSpPr>
        <p:spPr/>
        <p:txBody>
          <a:bodyPr anchor="t">
            <a:noAutofit/>
          </a:bodyPr>
          <a:lstStyle/>
          <a:p>
            <a:r>
              <a:rPr lang="en-US" sz="4000" dirty="0"/>
              <a:t>Spectrophotometric Dye-Dilution Analysis – 10uL Performance</a:t>
            </a:r>
          </a:p>
        </p:txBody>
      </p:sp>
      <p:sp>
        <p:nvSpPr>
          <p:cNvPr id="3" name="Content Placeholder 2">
            <a:extLst>
              <a:ext uri="{FF2B5EF4-FFF2-40B4-BE49-F238E27FC236}">
                <a16:creationId xmlns:a16="http://schemas.microsoft.com/office/drawing/2014/main" id="{958A08EE-EBA3-3526-972F-F8F4CAA379EE}"/>
              </a:ext>
            </a:extLst>
          </p:cNvPr>
          <p:cNvSpPr>
            <a:spLocks noGrp="1"/>
          </p:cNvSpPr>
          <p:nvPr>
            <p:ph type="body" sz="quarter" idx="13"/>
          </p:nvPr>
        </p:nvSpPr>
        <p:spPr/>
        <p:txBody>
          <a:bodyPr>
            <a:normAutofit/>
          </a:bodyPr>
          <a:lstStyle/>
          <a:p>
            <a:pPr marL="0" indent="0">
              <a:buNone/>
            </a:pPr>
            <a:endParaRPr lang="en-US" dirty="0"/>
          </a:p>
        </p:txBody>
      </p:sp>
      <p:sp>
        <p:nvSpPr>
          <p:cNvPr id="4" name="Text Placeholder 3">
            <a:extLst>
              <a:ext uri="{FF2B5EF4-FFF2-40B4-BE49-F238E27FC236}">
                <a16:creationId xmlns:a16="http://schemas.microsoft.com/office/drawing/2014/main" id="{19CD9E63-F6AA-BED7-4936-B462CC9AF673}"/>
              </a:ext>
            </a:extLst>
          </p:cNvPr>
          <p:cNvSpPr>
            <a:spLocks noGrp="1"/>
          </p:cNvSpPr>
          <p:nvPr>
            <p:ph type="body" sz="quarter" idx="14"/>
          </p:nvPr>
        </p:nvSpPr>
        <p:spPr/>
        <p:txBody>
          <a:bodyPr/>
          <a:lstStyle/>
          <a:p>
            <a:endParaRPr lang="en-US" dirty="0"/>
          </a:p>
        </p:txBody>
      </p:sp>
      <p:graphicFrame>
        <p:nvGraphicFramePr>
          <p:cNvPr id="6" name="Table 5">
            <a:extLst>
              <a:ext uri="{FF2B5EF4-FFF2-40B4-BE49-F238E27FC236}">
                <a16:creationId xmlns:a16="http://schemas.microsoft.com/office/drawing/2014/main" id="{2116121D-5114-6137-92AA-29B2B1C44165}"/>
              </a:ext>
            </a:extLst>
          </p:cNvPr>
          <p:cNvGraphicFramePr>
            <a:graphicFrameLocks noGrp="1"/>
          </p:cNvGraphicFramePr>
          <p:nvPr>
            <p:extLst>
              <p:ext uri="{D42A27DB-BD31-4B8C-83A1-F6EECF244321}">
                <p14:modId xmlns:p14="http://schemas.microsoft.com/office/powerpoint/2010/main" val="1528623626"/>
              </p:ext>
            </p:extLst>
          </p:nvPr>
        </p:nvGraphicFramePr>
        <p:xfrm>
          <a:off x="41139" y="1512249"/>
          <a:ext cx="5474972" cy="2307336"/>
        </p:xfrm>
        <a:graphic>
          <a:graphicData uri="http://schemas.openxmlformats.org/drawingml/2006/table">
            <a:tbl>
              <a:tblPr firstRow="1" bandRow="1">
                <a:solidFill>
                  <a:schemeClr val="bg2"/>
                </a:solidFill>
                <a:tableStyleId>{21E4AEA4-8DFA-4A89-87EB-49C32662AFE0}</a:tableStyleId>
              </a:tblPr>
              <a:tblGrid>
                <a:gridCol w="1368743">
                  <a:extLst>
                    <a:ext uri="{9D8B030D-6E8A-4147-A177-3AD203B41FA5}">
                      <a16:colId xmlns:a16="http://schemas.microsoft.com/office/drawing/2014/main" val="3016644333"/>
                    </a:ext>
                  </a:extLst>
                </a:gridCol>
                <a:gridCol w="1368743">
                  <a:extLst>
                    <a:ext uri="{9D8B030D-6E8A-4147-A177-3AD203B41FA5}">
                      <a16:colId xmlns:a16="http://schemas.microsoft.com/office/drawing/2014/main" val="3215222151"/>
                    </a:ext>
                  </a:extLst>
                </a:gridCol>
                <a:gridCol w="1368743">
                  <a:extLst>
                    <a:ext uri="{9D8B030D-6E8A-4147-A177-3AD203B41FA5}">
                      <a16:colId xmlns:a16="http://schemas.microsoft.com/office/drawing/2014/main" val="568643559"/>
                    </a:ext>
                  </a:extLst>
                </a:gridCol>
                <a:gridCol w="1368743">
                  <a:extLst>
                    <a:ext uri="{9D8B030D-6E8A-4147-A177-3AD203B41FA5}">
                      <a16:colId xmlns:a16="http://schemas.microsoft.com/office/drawing/2014/main" val="158219136"/>
                    </a:ext>
                  </a:extLst>
                </a:gridCol>
              </a:tblGrid>
              <a:tr h="776058">
                <a:tc>
                  <a:txBody>
                    <a:bodyPr/>
                    <a:lstStyle/>
                    <a:p>
                      <a:r>
                        <a:rPr lang="en-US" sz="1600" dirty="0"/>
                        <a:t>Metric</a:t>
                      </a:r>
                    </a:p>
                  </a:txBody>
                  <a:tcPr/>
                </a:tc>
                <a:tc>
                  <a:txBody>
                    <a:bodyPr/>
                    <a:lstStyle/>
                    <a:p>
                      <a:r>
                        <a:rPr lang="en-US" sz="1600" dirty="0"/>
                        <a:t>CV%</a:t>
                      </a:r>
                    </a:p>
                  </a:txBody>
                  <a:tcPr/>
                </a:tc>
                <a:tc>
                  <a:txBody>
                    <a:bodyPr/>
                    <a:lstStyle/>
                    <a:p>
                      <a:r>
                        <a:rPr lang="en-US" sz="1600" dirty="0"/>
                        <a:t>Volume </a:t>
                      </a:r>
                    </a:p>
                    <a:p>
                      <a:r>
                        <a:rPr lang="en-US" sz="1600" dirty="0"/>
                        <a:t>SD (50uL)</a:t>
                      </a:r>
                    </a:p>
                  </a:txBody>
                  <a:tcPr/>
                </a:tc>
                <a:tc>
                  <a:txBody>
                    <a:bodyPr/>
                    <a:lstStyle/>
                    <a:p>
                      <a:r>
                        <a:rPr lang="en-US" sz="1600" dirty="0"/>
                        <a:t>Volume </a:t>
                      </a:r>
                      <a:r>
                        <a:rPr lang="en-US" sz="1600" dirty="0" err="1"/>
                        <a:t>Varience</a:t>
                      </a:r>
                      <a:endParaRPr lang="en-US" sz="1600" dirty="0"/>
                    </a:p>
                  </a:txBody>
                  <a:tcPr/>
                </a:tc>
                <a:extLst>
                  <a:ext uri="{0D108BD9-81ED-4DB2-BD59-A6C34878D82A}">
                    <a16:rowId xmlns:a16="http://schemas.microsoft.com/office/drawing/2014/main" val="188431977"/>
                  </a:ext>
                </a:extLst>
              </a:tr>
              <a:tr h="765639">
                <a:tc>
                  <a:txBody>
                    <a:bodyPr/>
                    <a:lstStyle/>
                    <a:p>
                      <a:r>
                        <a:rPr lang="en-US" sz="1600" dirty="0"/>
                        <a:t>Instrument</a:t>
                      </a:r>
                    </a:p>
                    <a:p>
                      <a:r>
                        <a:rPr lang="en-US" sz="1600" dirty="0"/>
                        <a:t>repeatability</a:t>
                      </a:r>
                    </a:p>
                  </a:txBody>
                  <a:tcPr/>
                </a:tc>
                <a:tc>
                  <a:txBody>
                    <a:bodyPr/>
                    <a:lstStyle/>
                    <a:p>
                      <a:r>
                        <a:rPr lang="en-US" sz="1600" dirty="0"/>
                        <a:t>0.37%</a:t>
                      </a:r>
                    </a:p>
                  </a:txBody>
                  <a:tcPr/>
                </a:tc>
                <a:tc>
                  <a:txBody>
                    <a:bodyPr/>
                    <a:lstStyle/>
                    <a:p>
                      <a:r>
                        <a:rPr lang="en-US" sz="1600" dirty="0"/>
                        <a:t>0.19uL</a:t>
                      </a:r>
                    </a:p>
                  </a:txBody>
                  <a:tcPr/>
                </a:tc>
                <a:tc>
                  <a:txBody>
                    <a:bodyPr/>
                    <a:lstStyle/>
                    <a:p>
                      <a:r>
                        <a:rPr lang="en-US" sz="1600" dirty="0"/>
                        <a:t>0.034 µL²</a:t>
                      </a:r>
                    </a:p>
                  </a:txBody>
                  <a:tcPr/>
                </a:tc>
                <a:extLst>
                  <a:ext uri="{0D108BD9-81ED-4DB2-BD59-A6C34878D82A}">
                    <a16:rowId xmlns:a16="http://schemas.microsoft.com/office/drawing/2014/main" val="2286246122"/>
                  </a:ext>
                </a:extLst>
              </a:tr>
              <a:tr h="765639">
                <a:tc>
                  <a:txBody>
                    <a:bodyPr/>
                    <a:lstStyle/>
                    <a:p>
                      <a:r>
                        <a:rPr lang="en-US" sz="1600" dirty="0"/>
                        <a:t>Pipette Variation</a:t>
                      </a:r>
                    </a:p>
                  </a:txBody>
                  <a:tcPr/>
                </a:tc>
                <a:tc>
                  <a:txBody>
                    <a:bodyPr/>
                    <a:lstStyle/>
                    <a:p>
                      <a:r>
                        <a:rPr lang="en-US" sz="1600" dirty="0"/>
                        <a:t>2.09%</a:t>
                      </a:r>
                    </a:p>
                  </a:txBody>
                  <a:tcPr/>
                </a:tc>
                <a:tc>
                  <a:txBody>
                    <a:bodyPr/>
                    <a:lstStyle/>
                    <a:p>
                      <a:r>
                        <a:rPr lang="en-US" sz="1600" dirty="0"/>
                        <a:t>0.21uL</a:t>
                      </a:r>
                    </a:p>
                  </a:txBody>
                  <a:tcPr/>
                </a:tc>
                <a:tc>
                  <a:txBody>
                    <a:bodyPr/>
                    <a:lstStyle/>
                    <a:p>
                      <a:r>
                        <a:rPr lang="en-US" sz="1600" dirty="0"/>
                        <a:t>0.043µL²</a:t>
                      </a:r>
                    </a:p>
                  </a:txBody>
                  <a:tcPr/>
                </a:tc>
                <a:extLst>
                  <a:ext uri="{0D108BD9-81ED-4DB2-BD59-A6C34878D82A}">
                    <a16:rowId xmlns:a16="http://schemas.microsoft.com/office/drawing/2014/main" val="1537877748"/>
                  </a:ext>
                </a:extLst>
              </a:tr>
            </a:tbl>
          </a:graphicData>
        </a:graphic>
      </p:graphicFrame>
      <p:pic>
        <p:nvPicPr>
          <p:cNvPr id="10" name="Picture 9">
            <a:extLst>
              <a:ext uri="{FF2B5EF4-FFF2-40B4-BE49-F238E27FC236}">
                <a16:creationId xmlns:a16="http://schemas.microsoft.com/office/drawing/2014/main" id="{0EB64C7E-584B-C742-8BDF-79047D84CB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89131" y="3900370"/>
            <a:ext cx="5096691" cy="3054523"/>
          </a:xfrm>
          <a:prstGeom prst="rect">
            <a:avLst/>
          </a:prstGeom>
        </p:spPr>
      </p:pic>
      <p:pic>
        <p:nvPicPr>
          <p:cNvPr id="13" name="Picture 12">
            <a:extLst>
              <a:ext uri="{FF2B5EF4-FFF2-40B4-BE49-F238E27FC236}">
                <a16:creationId xmlns:a16="http://schemas.microsoft.com/office/drawing/2014/main" id="{7450CD36-90F0-5FC1-98C9-5A1D763ADC1C}"/>
              </a:ext>
            </a:extLst>
          </p:cNvPr>
          <p:cNvPicPr>
            <a:picLocks noChangeAspect="1"/>
          </p:cNvPicPr>
          <p:nvPr/>
        </p:nvPicPr>
        <p:blipFill>
          <a:blip r:embed="rId4"/>
          <a:stretch>
            <a:fillRect/>
          </a:stretch>
        </p:blipFill>
        <p:spPr>
          <a:xfrm>
            <a:off x="1673665" y="3832967"/>
            <a:ext cx="3529205" cy="3025033"/>
          </a:xfrm>
          <a:prstGeom prst="rect">
            <a:avLst/>
          </a:prstGeom>
        </p:spPr>
      </p:pic>
      <p:sp>
        <p:nvSpPr>
          <p:cNvPr id="5" name="Date Placeholder 4">
            <a:extLst>
              <a:ext uri="{FF2B5EF4-FFF2-40B4-BE49-F238E27FC236}">
                <a16:creationId xmlns:a16="http://schemas.microsoft.com/office/drawing/2014/main" id="{24D8FD41-61D7-CF0A-82A1-6CD49700F93F}"/>
              </a:ext>
            </a:extLst>
          </p:cNvPr>
          <p:cNvSpPr>
            <a:spLocks noGrp="1"/>
          </p:cNvSpPr>
          <p:nvPr>
            <p:ph type="dt" sz="half" idx="10"/>
          </p:nvPr>
        </p:nvSpPr>
        <p:spPr/>
        <p:txBody>
          <a:bodyPr/>
          <a:lstStyle/>
          <a:p>
            <a:r>
              <a:rPr lang="en-US"/>
              <a:t>7/2/2026</a:t>
            </a:r>
            <a:endParaRPr lang="en-US" dirty="0"/>
          </a:p>
        </p:txBody>
      </p:sp>
      <p:sp>
        <p:nvSpPr>
          <p:cNvPr id="7" name="Footer Placeholder 6">
            <a:extLst>
              <a:ext uri="{FF2B5EF4-FFF2-40B4-BE49-F238E27FC236}">
                <a16:creationId xmlns:a16="http://schemas.microsoft.com/office/drawing/2014/main" id="{FB88CCAE-05CE-A6D4-F70C-27E819228A63}"/>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3315065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0000">
              <a:schemeClr val="bg2"/>
            </a:gs>
            <a:gs pos="36000">
              <a:schemeClr val="bg2">
                <a:lumMod val="90000"/>
              </a:schemeClr>
            </a:gs>
            <a:gs pos="97000">
              <a:schemeClr val="bg2"/>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2D9736-A8FC-10C1-BCE7-9D3348657411}"/>
              </a:ext>
            </a:extLst>
          </p:cNvPr>
          <p:cNvSpPr>
            <a:spLocks noGrp="1"/>
          </p:cNvSpPr>
          <p:nvPr>
            <p:ph type="title"/>
          </p:nvPr>
        </p:nvSpPr>
        <p:spPr/>
        <p:txBody>
          <a:bodyPr/>
          <a:lstStyle/>
          <a:p>
            <a:r>
              <a:rPr lang="en-US" dirty="0"/>
              <a:t>Practical Application</a:t>
            </a:r>
          </a:p>
        </p:txBody>
      </p:sp>
      <p:sp>
        <p:nvSpPr>
          <p:cNvPr id="6" name="Text Placeholder 5">
            <a:extLst>
              <a:ext uri="{FF2B5EF4-FFF2-40B4-BE49-F238E27FC236}">
                <a16:creationId xmlns:a16="http://schemas.microsoft.com/office/drawing/2014/main" id="{892B9CC9-F2B3-EFA3-8C30-7A9F29453126}"/>
              </a:ext>
            </a:extLst>
          </p:cNvPr>
          <p:cNvSpPr>
            <a:spLocks noGrp="1"/>
          </p:cNvSpPr>
          <p:nvPr>
            <p:ph type="body" idx="1"/>
          </p:nvPr>
        </p:nvSpPr>
        <p:spPr/>
        <p:txBody>
          <a:bodyPr/>
          <a:lstStyle/>
          <a:p>
            <a:r>
              <a:rPr lang="en-US" b="0" dirty="0"/>
              <a:t>The Handheld E-Pipette</a:t>
            </a:r>
          </a:p>
        </p:txBody>
      </p:sp>
      <p:sp>
        <p:nvSpPr>
          <p:cNvPr id="8" name="Text Placeholder 7">
            <a:extLst>
              <a:ext uri="{FF2B5EF4-FFF2-40B4-BE49-F238E27FC236}">
                <a16:creationId xmlns:a16="http://schemas.microsoft.com/office/drawing/2014/main" id="{C0182A07-412C-E65A-34BC-75FBCB670612}"/>
              </a:ext>
            </a:extLst>
          </p:cNvPr>
          <p:cNvSpPr>
            <a:spLocks noGrp="1"/>
          </p:cNvSpPr>
          <p:nvPr>
            <p:ph type="body" sz="quarter" idx="13"/>
          </p:nvPr>
        </p:nvSpPr>
        <p:spPr/>
        <p:txBody>
          <a:bodyPr/>
          <a:lstStyle/>
          <a:p>
            <a:r>
              <a:rPr lang="en-US" b="1" dirty="0"/>
              <a:t>Skill Independent:</a:t>
            </a:r>
            <a:r>
              <a:rPr lang="en-US" dirty="0"/>
              <a:t> Eliminates user to user variability.</a:t>
            </a:r>
          </a:p>
          <a:p>
            <a:r>
              <a:rPr lang="en-US" b="1" dirty="0"/>
              <a:t>Error Reduction:</a:t>
            </a:r>
            <a:r>
              <a:rPr lang="en-US" dirty="0"/>
              <a:t> Pre-programmed modes (like Aliquot) remove the need for mental math and repetitive manual volume adjustments</a:t>
            </a:r>
          </a:p>
          <a:p>
            <a:r>
              <a:rPr lang="en-US" b="1" dirty="0"/>
              <a:t>Injury &amp; Fatigue Prevention:</a:t>
            </a:r>
            <a:r>
              <a:rPr lang="en-US" dirty="0"/>
              <a:t> Replaces high tension thumb springs with a single electronic button push. This prevents Repetitive Strain Injuries (RSI) and thumb fatigue during long-duration, high-throughput microplate workflows.</a:t>
            </a:r>
          </a:p>
          <a:p>
            <a:endParaRPr lang="en-US" dirty="0"/>
          </a:p>
        </p:txBody>
      </p:sp>
      <p:sp>
        <p:nvSpPr>
          <p:cNvPr id="7" name="Text Placeholder 6">
            <a:extLst>
              <a:ext uri="{FF2B5EF4-FFF2-40B4-BE49-F238E27FC236}">
                <a16:creationId xmlns:a16="http://schemas.microsoft.com/office/drawing/2014/main" id="{70859CFF-2DEC-A624-A9B1-1695D64E1820}"/>
              </a:ext>
            </a:extLst>
          </p:cNvPr>
          <p:cNvSpPr>
            <a:spLocks noGrp="1"/>
          </p:cNvSpPr>
          <p:nvPr>
            <p:ph type="body" sz="quarter" idx="3"/>
          </p:nvPr>
        </p:nvSpPr>
        <p:spPr/>
        <p:txBody>
          <a:bodyPr/>
          <a:lstStyle/>
          <a:p>
            <a:r>
              <a:rPr lang="en-US" b="0" dirty="0"/>
              <a:t>Fully Automated Liquid Handling</a:t>
            </a:r>
          </a:p>
        </p:txBody>
      </p:sp>
      <p:sp>
        <p:nvSpPr>
          <p:cNvPr id="9" name="Text Placeholder 8">
            <a:extLst>
              <a:ext uri="{FF2B5EF4-FFF2-40B4-BE49-F238E27FC236}">
                <a16:creationId xmlns:a16="http://schemas.microsoft.com/office/drawing/2014/main" id="{5B465694-3556-1FB1-5AB9-19F70790DF60}"/>
              </a:ext>
            </a:extLst>
          </p:cNvPr>
          <p:cNvSpPr>
            <a:spLocks noGrp="1"/>
          </p:cNvSpPr>
          <p:nvPr>
            <p:ph type="body" sz="quarter" idx="14"/>
          </p:nvPr>
        </p:nvSpPr>
        <p:spPr/>
        <p:txBody>
          <a:bodyPr/>
          <a:lstStyle/>
          <a:p>
            <a:r>
              <a:rPr lang="en-US" b="1" dirty="0"/>
              <a:t>Modular Robotics Integration:</a:t>
            </a:r>
          </a:p>
          <a:p>
            <a:r>
              <a:rPr lang="en-US" dirty="0"/>
              <a:t>As the pipette is self-contained and controlled via a simple Serial API, it can easily be mounted to an automated Cartesian (XY/XYZ) system for robotic dispensing</a:t>
            </a:r>
            <a:endParaRPr lang="en-US" b="1" dirty="0"/>
          </a:p>
          <a:p>
            <a:r>
              <a:rPr lang="en-US" b="1" dirty="0"/>
              <a:t>Automated ELISA Workflow</a:t>
            </a:r>
          </a:p>
          <a:p>
            <a:r>
              <a:rPr lang="en-US" b="1" dirty="0"/>
              <a:t>Automated Ultrafast PCR</a:t>
            </a:r>
            <a:endParaRPr lang="en-US" dirty="0"/>
          </a:p>
        </p:txBody>
      </p:sp>
      <p:sp>
        <p:nvSpPr>
          <p:cNvPr id="2" name="Date Placeholder 1">
            <a:extLst>
              <a:ext uri="{FF2B5EF4-FFF2-40B4-BE49-F238E27FC236}">
                <a16:creationId xmlns:a16="http://schemas.microsoft.com/office/drawing/2014/main" id="{349A0DF3-0AB7-7D35-179F-5609BF376222}"/>
              </a:ext>
            </a:extLst>
          </p:cNvPr>
          <p:cNvSpPr>
            <a:spLocks noGrp="1"/>
          </p:cNvSpPr>
          <p:nvPr>
            <p:ph type="dt" sz="half" idx="10"/>
          </p:nvPr>
        </p:nvSpPr>
        <p:spPr/>
        <p:txBody>
          <a:bodyPr/>
          <a:lstStyle/>
          <a:p>
            <a:r>
              <a:rPr lang="en-US"/>
              <a:t>7/2/2026</a:t>
            </a:r>
            <a:endParaRPr lang="en-US" dirty="0"/>
          </a:p>
        </p:txBody>
      </p:sp>
      <p:sp>
        <p:nvSpPr>
          <p:cNvPr id="3" name="Footer Placeholder 2">
            <a:extLst>
              <a:ext uri="{FF2B5EF4-FFF2-40B4-BE49-F238E27FC236}">
                <a16:creationId xmlns:a16="http://schemas.microsoft.com/office/drawing/2014/main" id="{DA352FF3-C6D9-1E49-9387-C398BE949B54}"/>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2320639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36000">
              <a:schemeClr val="bg2">
                <a:lumMod val="90000"/>
              </a:schemeClr>
            </a:gs>
            <a:gs pos="97000">
              <a:schemeClr val="bg2"/>
            </a:gs>
          </a:gsLst>
          <a:lin ang="5400000" scaled="1"/>
        </a:gradFill>
        <a:effectLst/>
      </p:bgPr>
    </p:bg>
    <p:spTree>
      <p:nvGrpSpPr>
        <p:cNvPr id="1" name="">
          <a:extLst>
            <a:ext uri="{FF2B5EF4-FFF2-40B4-BE49-F238E27FC236}">
              <a16:creationId xmlns:a16="http://schemas.microsoft.com/office/drawing/2014/main" id="{73E36012-5E8C-9424-D8EA-3F3DEB21E8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D46A57-BF50-7F2A-7BDF-C389D844626B}"/>
              </a:ext>
            </a:extLst>
          </p:cNvPr>
          <p:cNvSpPr>
            <a:spLocks noGrp="1"/>
          </p:cNvSpPr>
          <p:nvPr>
            <p:ph type="title"/>
          </p:nvPr>
        </p:nvSpPr>
        <p:spPr/>
        <p:txBody>
          <a:bodyPr/>
          <a:lstStyle/>
          <a:p>
            <a:r>
              <a:rPr lang="en-US" dirty="0"/>
              <a:t>Practical Application</a:t>
            </a:r>
          </a:p>
        </p:txBody>
      </p:sp>
      <p:sp>
        <p:nvSpPr>
          <p:cNvPr id="6" name="Text Placeholder 5">
            <a:extLst>
              <a:ext uri="{FF2B5EF4-FFF2-40B4-BE49-F238E27FC236}">
                <a16:creationId xmlns:a16="http://schemas.microsoft.com/office/drawing/2014/main" id="{EE1AE5B0-6DA3-BA1F-D9DF-2A69BB3DCD3E}"/>
              </a:ext>
            </a:extLst>
          </p:cNvPr>
          <p:cNvSpPr>
            <a:spLocks noGrp="1"/>
          </p:cNvSpPr>
          <p:nvPr>
            <p:ph type="body" idx="1"/>
          </p:nvPr>
        </p:nvSpPr>
        <p:spPr/>
        <p:txBody>
          <a:bodyPr>
            <a:normAutofit/>
          </a:bodyPr>
          <a:lstStyle/>
          <a:p>
            <a:r>
              <a:rPr lang="en-US" sz="2400" b="0" dirty="0"/>
              <a:t>The Handheld E-Pipette</a:t>
            </a:r>
          </a:p>
        </p:txBody>
      </p:sp>
      <p:sp>
        <p:nvSpPr>
          <p:cNvPr id="8" name="Text Placeholder 7">
            <a:extLst>
              <a:ext uri="{FF2B5EF4-FFF2-40B4-BE49-F238E27FC236}">
                <a16:creationId xmlns:a16="http://schemas.microsoft.com/office/drawing/2014/main" id="{04916775-B375-EEDF-FF39-C4AC44C78C8A}"/>
              </a:ext>
            </a:extLst>
          </p:cNvPr>
          <p:cNvSpPr>
            <a:spLocks noGrp="1"/>
          </p:cNvSpPr>
          <p:nvPr>
            <p:ph type="body" sz="quarter" idx="13"/>
          </p:nvPr>
        </p:nvSpPr>
        <p:spPr/>
        <p:txBody>
          <a:bodyPr/>
          <a:lstStyle/>
          <a:p>
            <a:endParaRPr lang="en-US" dirty="0"/>
          </a:p>
        </p:txBody>
      </p:sp>
      <p:sp>
        <p:nvSpPr>
          <p:cNvPr id="7" name="Text Placeholder 6">
            <a:extLst>
              <a:ext uri="{FF2B5EF4-FFF2-40B4-BE49-F238E27FC236}">
                <a16:creationId xmlns:a16="http://schemas.microsoft.com/office/drawing/2014/main" id="{08B6A691-9881-1DB2-CB94-9E0C0F3B18A5}"/>
              </a:ext>
            </a:extLst>
          </p:cNvPr>
          <p:cNvSpPr>
            <a:spLocks noGrp="1"/>
          </p:cNvSpPr>
          <p:nvPr>
            <p:ph type="body" sz="quarter" idx="3"/>
          </p:nvPr>
        </p:nvSpPr>
        <p:spPr/>
        <p:txBody>
          <a:bodyPr/>
          <a:lstStyle/>
          <a:p>
            <a:endParaRPr lang="en-US" b="0" dirty="0"/>
          </a:p>
        </p:txBody>
      </p:sp>
      <p:sp>
        <p:nvSpPr>
          <p:cNvPr id="9" name="Text Placeholder 8">
            <a:extLst>
              <a:ext uri="{FF2B5EF4-FFF2-40B4-BE49-F238E27FC236}">
                <a16:creationId xmlns:a16="http://schemas.microsoft.com/office/drawing/2014/main" id="{13C448EC-6D29-466B-EA9C-3F10B6600CE6}"/>
              </a:ext>
            </a:extLst>
          </p:cNvPr>
          <p:cNvSpPr>
            <a:spLocks noGrp="1"/>
          </p:cNvSpPr>
          <p:nvPr>
            <p:ph type="body" sz="quarter" idx="14"/>
          </p:nvPr>
        </p:nvSpPr>
        <p:spPr/>
        <p:txBody>
          <a:bodyPr/>
          <a:lstStyle/>
          <a:p>
            <a:endParaRPr lang="en-US" dirty="0"/>
          </a:p>
        </p:txBody>
      </p:sp>
      <p:pic>
        <p:nvPicPr>
          <p:cNvPr id="3" name="Picture 2">
            <a:extLst>
              <a:ext uri="{FF2B5EF4-FFF2-40B4-BE49-F238E27FC236}">
                <a16:creationId xmlns:a16="http://schemas.microsoft.com/office/drawing/2014/main" id="{2967FB08-E23E-1511-5988-28FABB57DEBE}"/>
              </a:ext>
            </a:extLst>
          </p:cNvPr>
          <p:cNvPicPr>
            <a:picLocks noChangeAspect="1"/>
          </p:cNvPicPr>
          <p:nvPr/>
        </p:nvPicPr>
        <p:blipFill>
          <a:blip r:embed="rId2">
            <a:extLst>
              <a:ext uri="{28A0092B-C50C-407E-A947-70E740481C1C}">
                <a14:useLocalDpi xmlns:a14="http://schemas.microsoft.com/office/drawing/2010/main" val="0"/>
              </a:ext>
            </a:extLst>
          </a:blip>
          <a:srcRect l="6361" r="10910" b="2"/>
          <a:stretch>
            <a:fillRect/>
          </a:stretch>
        </p:blipFill>
        <p:spPr>
          <a:xfrm>
            <a:off x="873683" y="-398982"/>
            <a:ext cx="9536327" cy="8674033"/>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2" name="Date Placeholder 1">
            <a:extLst>
              <a:ext uri="{FF2B5EF4-FFF2-40B4-BE49-F238E27FC236}">
                <a16:creationId xmlns:a16="http://schemas.microsoft.com/office/drawing/2014/main" id="{59070C18-6B5D-4236-DF09-B993F8186752}"/>
              </a:ext>
            </a:extLst>
          </p:cNvPr>
          <p:cNvSpPr>
            <a:spLocks noGrp="1"/>
          </p:cNvSpPr>
          <p:nvPr>
            <p:ph type="dt" sz="half" idx="10"/>
          </p:nvPr>
        </p:nvSpPr>
        <p:spPr/>
        <p:txBody>
          <a:bodyPr/>
          <a:lstStyle/>
          <a:p>
            <a:r>
              <a:rPr lang="en-US"/>
              <a:t>7/2/2026</a:t>
            </a:r>
            <a:endParaRPr lang="en-US" dirty="0"/>
          </a:p>
        </p:txBody>
      </p:sp>
      <p:sp>
        <p:nvSpPr>
          <p:cNvPr id="4" name="Footer Placeholder 3">
            <a:extLst>
              <a:ext uri="{FF2B5EF4-FFF2-40B4-BE49-F238E27FC236}">
                <a16:creationId xmlns:a16="http://schemas.microsoft.com/office/drawing/2014/main" id="{369F541F-AF36-E3BF-D0CA-8AFA54F76376}"/>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703077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lumMod val="90000"/>
              </a:schemeClr>
            </a:gs>
            <a:gs pos="97000">
              <a:schemeClr val="bg2"/>
            </a:gs>
          </a:gsLst>
          <a:lin ang="5400000" scaled="1"/>
        </a:gradFill>
        <a:effectLst/>
      </p:bgPr>
    </p:bg>
    <p:spTree>
      <p:nvGrpSpPr>
        <p:cNvPr id="1" name="">
          <a:extLst>
            <a:ext uri="{FF2B5EF4-FFF2-40B4-BE49-F238E27FC236}">
              <a16:creationId xmlns:a16="http://schemas.microsoft.com/office/drawing/2014/main" id="{7999B054-953A-0666-79A9-803C9FFE2D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2E96E6-5944-3F39-4C38-DAF5AB97EA95}"/>
              </a:ext>
            </a:extLst>
          </p:cNvPr>
          <p:cNvSpPr>
            <a:spLocks noGrp="1"/>
          </p:cNvSpPr>
          <p:nvPr>
            <p:ph type="title"/>
          </p:nvPr>
        </p:nvSpPr>
        <p:spPr/>
        <p:txBody>
          <a:bodyPr/>
          <a:lstStyle/>
          <a:p>
            <a:r>
              <a:rPr lang="en-US" dirty="0"/>
              <a:t>Practical Application</a:t>
            </a:r>
          </a:p>
        </p:txBody>
      </p:sp>
      <p:sp>
        <p:nvSpPr>
          <p:cNvPr id="6" name="Text Placeholder 5">
            <a:extLst>
              <a:ext uri="{FF2B5EF4-FFF2-40B4-BE49-F238E27FC236}">
                <a16:creationId xmlns:a16="http://schemas.microsoft.com/office/drawing/2014/main" id="{736D8B28-D0D4-5CC7-7C4F-AC19843657FB}"/>
              </a:ext>
            </a:extLst>
          </p:cNvPr>
          <p:cNvSpPr>
            <a:spLocks noGrp="1"/>
          </p:cNvSpPr>
          <p:nvPr>
            <p:ph type="body" idx="1"/>
          </p:nvPr>
        </p:nvSpPr>
        <p:spPr/>
        <p:txBody>
          <a:bodyPr>
            <a:normAutofit/>
          </a:bodyPr>
          <a:lstStyle/>
          <a:p>
            <a:r>
              <a:rPr lang="en-US" sz="2400" b="0" dirty="0"/>
              <a:t>The Handheld E-Pipette</a:t>
            </a:r>
          </a:p>
        </p:txBody>
      </p:sp>
      <p:sp>
        <p:nvSpPr>
          <p:cNvPr id="8" name="Text Placeholder 7">
            <a:extLst>
              <a:ext uri="{FF2B5EF4-FFF2-40B4-BE49-F238E27FC236}">
                <a16:creationId xmlns:a16="http://schemas.microsoft.com/office/drawing/2014/main" id="{6A8887E1-F3D6-23EE-A1B5-8A9595B63B96}"/>
              </a:ext>
            </a:extLst>
          </p:cNvPr>
          <p:cNvSpPr>
            <a:spLocks noGrp="1"/>
          </p:cNvSpPr>
          <p:nvPr>
            <p:ph type="body" sz="quarter" idx="13"/>
          </p:nvPr>
        </p:nvSpPr>
        <p:spPr/>
        <p:txBody>
          <a:bodyPr/>
          <a:lstStyle/>
          <a:p>
            <a:endParaRPr lang="en-US" dirty="0"/>
          </a:p>
        </p:txBody>
      </p:sp>
      <p:sp>
        <p:nvSpPr>
          <p:cNvPr id="7" name="Text Placeholder 6">
            <a:extLst>
              <a:ext uri="{FF2B5EF4-FFF2-40B4-BE49-F238E27FC236}">
                <a16:creationId xmlns:a16="http://schemas.microsoft.com/office/drawing/2014/main" id="{8423BE1F-369E-4728-24DE-F1C48CEDA87D}"/>
              </a:ext>
            </a:extLst>
          </p:cNvPr>
          <p:cNvSpPr>
            <a:spLocks noGrp="1"/>
          </p:cNvSpPr>
          <p:nvPr>
            <p:ph type="body" sz="quarter" idx="3"/>
          </p:nvPr>
        </p:nvSpPr>
        <p:spPr/>
        <p:txBody>
          <a:bodyPr/>
          <a:lstStyle/>
          <a:p>
            <a:endParaRPr lang="en-US" b="0" dirty="0"/>
          </a:p>
        </p:txBody>
      </p:sp>
      <p:sp>
        <p:nvSpPr>
          <p:cNvPr id="9" name="Text Placeholder 8">
            <a:extLst>
              <a:ext uri="{FF2B5EF4-FFF2-40B4-BE49-F238E27FC236}">
                <a16:creationId xmlns:a16="http://schemas.microsoft.com/office/drawing/2014/main" id="{789A8130-95EB-0672-C439-E9629AD9A0F6}"/>
              </a:ext>
            </a:extLst>
          </p:cNvPr>
          <p:cNvSpPr>
            <a:spLocks noGrp="1"/>
          </p:cNvSpPr>
          <p:nvPr>
            <p:ph type="body" sz="quarter" idx="14"/>
          </p:nvPr>
        </p:nvSpPr>
        <p:spPr/>
        <p:txBody>
          <a:bodyPr/>
          <a:lstStyle/>
          <a:p>
            <a:endParaRPr lang="en-US" dirty="0"/>
          </a:p>
        </p:txBody>
      </p:sp>
      <p:pic>
        <p:nvPicPr>
          <p:cNvPr id="3" name="Picture 2">
            <a:extLst>
              <a:ext uri="{FF2B5EF4-FFF2-40B4-BE49-F238E27FC236}">
                <a16:creationId xmlns:a16="http://schemas.microsoft.com/office/drawing/2014/main" id="{5CFEFF87-C247-1498-AD23-1F15CAB037A0}"/>
              </a:ext>
            </a:extLst>
          </p:cNvPr>
          <p:cNvPicPr>
            <a:picLocks noChangeAspect="1"/>
          </p:cNvPicPr>
          <p:nvPr/>
        </p:nvPicPr>
        <p:blipFill>
          <a:blip r:embed="rId3">
            <a:extLst>
              <a:ext uri="{28A0092B-C50C-407E-A947-70E740481C1C}">
                <a14:useLocalDpi xmlns:a14="http://schemas.microsoft.com/office/drawing/2010/main" val="0"/>
              </a:ext>
            </a:extLst>
          </a:blip>
          <a:srcRect l="8680" r="8680"/>
          <a:stretch/>
        </p:blipFill>
        <p:spPr>
          <a:xfrm>
            <a:off x="873683" y="-398982"/>
            <a:ext cx="9536327" cy="8674033"/>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no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8BBB53F7-B1F0-FC06-B1E2-3D28985827E3}"/>
              </a:ext>
            </a:extLst>
          </p:cNvPr>
          <p:cNvSpPr txBox="1"/>
          <p:nvPr/>
        </p:nvSpPr>
        <p:spPr>
          <a:xfrm>
            <a:off x="7376160" y="6364288"/>
            <a:ext cx="2119491" cy="261610"/>
          </a:xfrm>
          <a:prstGeom prst="rect">
            <a:avLst/>
          </a:prstGeom>
          <a:noFill/>
        </p:spPr>
        <p:txBody>
          <a:bodyPr wrap="none" rtlCol="0">
            <a:spAutoFit/>
          </a:bodyPr>
          <a:lstStyle/>
          <a:p>
            <a:r>
              <a:rPr lang="en-US" sz="1100" dirty="0">
                <a:solidFill>
                  <a:schemeClr val="tx1">
                    <a:lumMod val="50000"/>
                    <a:lumOff val="50000"/>
                  </a:schemeClr>
                </a:solidFill>
              </a:rPr>
              <a:t>*illustrated with Generative AI</a:t>
            </a:r>
          </a:p>
        </p:txBody>
      </p:sp>
      <p:sp>
        <p:nvSpPr>
          <p:cNvPr id="4" name="Date Placeholder 3">
            <a:extLst>
              <a:ext uri="{FF2B5EF4-FFF2-40B4-BE49-F238E27FC236}">
                <a16:creationId xmlns:a16="http://schemas.microsoft.com/office/drawing/2014/main" id="{CC8AC1E8-148D-BD7B-587F-9F5C0D2C423A}"/>
              </a:ext>
            </a:extLst>
          </p:cNvPr>
          <p:cNvSpPr>
            <a:spLocks noGrp="1"/>
          </p:cNvSpPr>
          <p:nvPr>
            <p:ph type="dt" sz="half" idx="10"/>
          </p:nvPr>
        </p:nvSpPr>
        <p:spPr/>
        <p:txBody>
          <a:bodyPr/>
          <a:lstStyle/>
          <a:p>
            <a:r>
              <a:rPr lang="en-US"/>
              <a:t>7/2/2026</a:t>
            </a:r>
            <a:endParaRPr lang="en-US" dirty="0"/>
          </a:p>
        </p:txBody>
      </p:sp>
      <p:sp>
        <p:nvSpPr>
          <p:cNvPr id="10" name="Footer Placeholder 9">
            <a:extLst>
              <a:ext uri="{FF2B5EF4-FFF2-40B4-BE49-F238E27FC236}">
                <a16:creationId xmlns:a16="http://schemas.microsoft.com/office/drawing/2014/main" id="{90020B36-81D0-2FBD-88BA-49A859CA0CD4}"/>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435209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D9A82-EE48-E5D4-F801-4C7B8CAC4EA4}"/>
              </a:ext>
            </a:extLst>
          </p:cNvPr>
          <p:cNvSpPr>
            <a:spLocks noGrp="1"/>
          </p:cNvSpPr>
          <p:nvPr>
            <p:ph type="title"/>
          </p:nvPr>
        </p:nvSpPr>
        <p:spPr/>
        <p:txBody>
          <a:bodyPr/>
          <a:lstStyle/>
          <a:p>
            <a:r>
              <a:rPr lang="en-US" dirty="0"/>
              <a:t>Device Dashboard</a:t>
            </a:r>
          </a:p>
        </p:txBody>
      </p:sp>
      <p:sp>
        <p:nvSpPr>
          <p:cNvPr id="3" name="Text Placeholder 2">
            <a:extLst>
              <a:ext uri="{FF2B5EF4-FFF2-40B4-BE49-F238E27FC236}">
                <a16:creationId xmlns:a16="http://schemas.microsoft.com/office/drawing/2014/main" id="{1109D5FC-6274-FC9B-CC18-420E0168F7FA}"/>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EEB96851-4B0D-FC3C-0A6C-CC851C055C88}"/>
              </a:ext>
            </a:extLst>
          </p:cNvPr>
          <p:cNvSpPr>
            <a:spLocks noGrp="1"/>
          </p:cNvSpPr>
          <p:nvPr>
            <p:ph type="body" sz="quarter" idx="13"/>
          </p:nvPr>
        </p:nvSpPr>
        <p:spPr/>
        <p:txBody>
          <a:bodyPr/>
          <a:lstStyle/>
          <a:p>
            <a:endParaRPr lang="en-US" dirty="0"/>
          </a:p>
        </p:txBody>
      </p:sp>
      <p:sp>
        <p:nvSpPr>
          <p:cNvPr id="5" name="Text Placeholder 4">
            <a:extLst>
              <a:ext uri="{FF2B5EF4-FFF2-40B4-BE49-F238E27FC236}">
                <a16:creationId xmlns:a16="http://schemas.microsoft.com/office/drawing/2014/main" id="{04F1865B-B185-EE66-99AE-4AD71F49A90D}"/>
              </a:ext>
            </a:extLst>
          </p:cNvPr>
          <p:cNvSpPr>
            <a:spLocks noGrp="1"/>
          </p:cNvSpPr>
          <p:nvPr>
            <p:ph type="body" sz="quarter" idx="3"/>
          </p:nvPr>
        </p:nvSpPr>
        <p:spPr/>
        <p:txBody>
          <a:bodyPr/>
          <a:lstStyle/>
          <a:p>
            <a:endParaRPr lang="en-US"/>
          </a:p>
        </p:txBody>
      </p:sp>
      <p:sp>
        <p:nvSpPr>
          <p:cNvPr id="6" name="Text Placeholder 5">
            <a:extLst>
              <a:ext uri="{FF2B5EF4-FFF2-40B4-BE49-F238E27FC236}">
                <a16:creationId xmlns:a16="http://schemas.microsoft.com/office/drawing/2014/main" id="{0F74EA9C-7EF5-8AB1-33E9-B1B313A22CFD}"/>
              </a:ext>
            </a:extLst>
          </p:cNvPr>
          <p:cNvSpPr>
            <a:spLocks noGrp="1"/>
          </p:cNvSpPr>
          <p:nvPr>
            <p:ph type="body" sz="quarter" idx="14"/>
          </p:nvPr>
        </p:nvSpPr>
        <p:spPr/>
        <p:txBody>
          <a:bodyPr/>
          <a:lstStyle/>
          <a:p>
            <a:endParaRPr lang="en-US" dirty="0"/>
          </a:p>
        </p:txBody>
      </p:sp>
      <p:pic>
        <p:nvPicPr>
          <p:cNvPr id="8" name="Picture 7">
            <a:extLst>
              <a:ext uri="{FF2B5EF4-FFF2-40B4-BE49-F238E27FC236}">
                <a16:creationId xmlns:a16="http://schemas.microsoft.com/office/drawing/2014/main" id="{4BD22CD3-AAB4-5B93-F759-DD6A34C19C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3181" y="1343206"/>
            <a:ext cx="9097108" cy="5117124"/>
          </a:xfrm>
          <a:prstGeom prst="rect">
            <a:avLst/>
          </a:prstGeom>
          <a:ln>
            <a:noFill/>
          </a:ln>
          <a:effectLst>
            <a:outerShdw blurRad="292100" dist="139700" dir="2700000" algn="tl" rotWithShape="0">
              <a:srgbClr val="333333">
                <a:alpha val="65000"/>
              </a:srgbClr>
            </a:outerShdw>
          </a:effectLst>
        </p:spPr>
      </p:pic>
      <p:sp>
        <p:nvSpPr>
          <p:cNvPr id="7" name="Date Placeholder 6">
            <a:extLst>
              <a:ext uri="{FF2B5EF4-FFF2-40B4-BE49-F238E27FC236}">
                <a16:creationId xmlns:a16="http://schemas.microsoft.com/office/drawing/2014/main" id="{67546693-90AD-99B9-8362-1EF4B05BFD4C}"/>
              </a:ext>
            </a:extLst>
          </p:cNvPr>
          <p:cNvSpPr>
            <a:spLocks noGrp="1"/>
          </p:cNvSpPr>
          <p:nvPr>
            <p:ph type="dt" sz="half" idx="10"/>
          </p:nvPr>
        </p:nvSpPr>
        <p:spPr/>
        <p:txBody>
          <a:bodyPr/>
          <a:lstStyle/>
          <a:p>
            <a:r>
              <a:rPr lang="en-US"/>
              <a:t>7/2/2026</a:t>
            </a:r>
            <a:endParaRPr lang="en-US" dirty="0"/>
          </a:p>
        </p:txBody>
      </p:sp>
      <p:sp>
        <p:nvSpPr>
          <p:cNvPr id="9" name="Footer Placeholder 8">
            <a:extLst>
              <a:ext uri="{FF2B5EF4-FFF2-40B4-BE49-F238E27FC236}">
                <a16:creationId xmlns:a16="http://schemas.microsoft.com/office/drawing/2014/main" id="{6150DAFA-EFD2-2138-4222-7EAD9852A270}"/>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3445361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gs>
          </a:gsLst>
          <a:lin ang="5400000" scaled="1"/>
        </a:gradFill>
        <a:effectLst/>
      </p:bgPr>
    </p:bg>
    <p:spTree>
      <p:nvGrpSpPr>
        <p:cNvPr id="1" name="">
          <a:extLst>
            <a:ext uri="{FF2B5EF4-FFF2-40B4-BE49-F238E27FC236}">
              <a16:creationId xmlns:a16="http://schemas.microsoft.com/office/drawing/2014/main" id="{7757CAF5-B2F3-43FC-B821-EE0293B4B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74C1A-6ADB-7543-5B48-E447D113632A}"/>
              </a:ext>
            </a:extLst>
          </p:cNvPr>
          <p:cNvSpPr>
            <a:spLocks noGrp="1"/>
          </p:cNvSpPr>
          <p:nvPr>
            <p:ph type="title"/>
          </p:nvPr>
        </p:nvSpPr>
        <p:spPr/>
        <p:txBody>
          <a:bodyPr/>
          <a:lstStyle/>
          <a:p>
            <a:r>
              <a:rPr lang="en-US" dirty="0"/>
              <a:t>Device Dashboard</a:t>
            </a:r>
          </a:p>
        </p:txBody>
      </p:sp>
      <p:sp>
        <p:nvSpPr>
          <p:cNvPr id="3" name="Text Placeholder 2">
            <a:extLst>
              <a:ext uri="{FF2B5EF4-FFF2-40B4-BE49-F238E27FC236}">
                <a16:creationId xmlns:a16="http://schemas.microsoft.com/office/drawing/2014/main" id="{4DEAB74B-4260-0FC6-46BA-94AB376B3A1C}"/>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CFEB22DF-7875-599B-482F-E8A8708B9D4E}"/>
              </a:ext>
            </a:extLst>
          </p:cNvPr>
          <p:cNvSpPr>
            <a:spLocks noGrp="1"/>
          </p:cNvSpPr>
          <p:nvPr>
            <p:ph type="body" sz="quarter" idx="13"/>
          </p:nvPr>
        </p:nvSpPr>
        <p:spPr/>
        <p:txBody>
          <a:bodyPr/>
          <a:lstStyle/>
          <a:p>
            <a:endParaRPr lang="en-US" dirty="0"/>
          </a:p>
        </p:txBody>
      </p:sp>
      <p:sp>
        <p:nvSpPr>
          <p:cNvPr id="5" name="Text Placeholder 4">
            <a:extLst>
              <a:ext uri="{FF2B5EF4-FFF2-40B4-BE49-F238E27FC236}">
                <a16:creationId xmlns:a16="http://schemas.microsoft.com/office/drawing/2014/main" id="{F97F5527-20E3-E841-914B-A7397E762491}"/>
              </a:ext>
            </a:extLst>
          </p:cNvPr>
          <p:cNvSpPr>
            <a:spLocks noGrp="1"/>
          </p:cNvSpPr>
          <p:nvPr>
            <p:ph type="body" sz="quarter" idx="3"/>
          </p:nvPr>
        </p:nvSpPr>
        <p:spPr/>
        <p:txBody>
          <a:bodyPr/>
          <a:lstStyle/>
          <a:p>
            <a:endParaRPr lang="en-US"/>
          </a:p>
        </p:txBody>
      </p:sp>
      <p:sp>
        <p:nvSpPr>
          <p:cNvPr id="6" name="Text Placeholder 5">
            <a:extLst>
              <a:ext uri="{FF2B5EF4-FFF2-40B4-BE49-F238E27FC236}">
                <a16:creationId xmlns:a16="http://schemas.microsoft.com/office/drawing/2014/main" id="{1EEC01A1-FEF0-E169-9113-150403469DD1}"/>
              </a:ext>
            </a:extLst>
          </p:cNvPr>
          <p:cNvSpPr>
            <a:spLocks noGrp="1"/>
          </p:cNvSpPr>
          <p:nvPr>
            <p:ph type="body" sz="quarter" idx="14"/>
          </p:nvPr>
        </p:nvSpPr>
        <p:spPr/>
        <p:txBody>
          <a:bodyPr/>
          <a:lstStyle/>
          <a:p>
            <a:endParaRPr lang="en-US" dirty="0"/>
          </a:p>
        </p:txBody>
      </p:sp>
      <p:pic>
        <p:nvPicPr>
          <p:cNvPr id="8" name="Picture 7">
            <a:extLst>
              <a:ext uri="{FF2B5EF4-FFF2-40B4-BE49-F238E27FC236}">
                <a16:creationId xmlns:a16="http://schemas.microsoft.com/office/drawing/2014/main" id="{D124C44D-AF3F-9A4B-3BA8-AD895E6DCF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3181" y="1343206"/>
            <a:ext cx="9097108" cy="5117123"/>
          </a:xfrm>
          <a:prstGeom prst="rect">
            <a:avLst/>
          </a:prstGeom>
          <a:ln>
            <a:noFill/>
          </a:ln>
          <a:effectLst>
            <a:outerShdw blurRad="292100" dist="139700" dir="2700000" algn="tl" rotWithShape="0">
              <a:srgbClr val="333333">
                <a:alpha val="65000"/>
              </a:srgbClr>
            </a:outerShdw>
          </a:effectLst>
        </p:spPr>
      </p:pic>
      <p:sp>
        <p:nvSpPr>
          <p:cNvPr id="7" name="Date Placeholder 6">
            <a:extLst>
              <a:ext uri="{FF2B5EF4-FFF2-40B4-BE49-F238E27FC236}">
                <a16:creationId xmlns:a16="http://schemas.microsoft.com/office/drawing/2014/main" id="{2E64173A-84DF-7314-B640-7443C800D755}"/>
              </a:ext>
            </a:extLst>
          </p:cNvPr>
          <p:cNvSpPr>
            <a:spLocks noGrp="1"/>
          </p:cNvSpPr>
          <p:nvPr>
            <p:ph type="dt" sz="half" idx="10"/>
          </p:nvPr>
        </p:nvSpPr>
        <p:spPr/>
        <p:txBody>
          <a:bodyPr/>
          <a:lstStyle/>
          <a:p>
            <a:r>
              <a:rPr lang="en-US"/>
              <a:t>7/2/2026</a:t>
            </a:r>
            <a:endParaRPr lang="en-US" dirty="0"/>
          </a:p>
        </p:txBody>
      </p:sp>
      <p:sp>
        <p:nvSpPr>
          <p:cNvPr id="9" name="Footer Placeholder 8">
            <a:extLst>
              <a:ext uri="{FF2B5EF4-FFF2-40B4-BE49-F238E27FC236}">
                <a16:creationId xmlns:a16="http://schemas.microsoft.com/office/drawing/2014/main" id="{DDCB8A54-51BB-ADC8-EDE8-D2F4F91DD4BB}"/>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3828279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62000">
              <a:schemeClr val="bg2"/>
            </a:gs>
            <a:gs pos="83000">
              <a:schemeClr val="bg2"/>
            </a:gs>
            <a:gs pos="97000">
              <a:schemeClr val="bg2"/>
            </a:gs>
          </a:gsLst>
          <a:lin ang="5400000" scaled="1"/>
        </a:gradFill>
        <a:effectLst/>
      </p:bgPr>
    </p:bg>
    <p:spTree>
      <p:nvGrpSpPr>
        <p:cNvPr id="1" name="">
          <a:extLst>
            <a:ext uri="{FF2B5EF4-FFF2-40B4-BE49-F238E27FC236}">
              <a16:creationId xmlns:a16="http://schemas.microsoft.com/office/drawing/2014/main" id="{1C0349DA-A74C-472B-9D0A-F3CAD5BBC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CD2E4-B8F3-EBD9-334E-EE9FEEC5EF41}"/>
              </a:ext>
            </a:extLst>
          </p:cNvPr>
          <p:cNvSpPr>
            <a:spLocks noGrp="1"/>
          </p:cNvSpPr>
          <p:nvPr>
            <p:ph type="title"/>
          </p:nvPr>
        </p:nvSpPr>
        <p:spPr/>
        <p:txBody>
          <a:bodyPr/>
          <a:lstStyle/>
          <a:p>
            <a:r>
              <a:rPr lang="en-US" dirty="0"/>
              <a:t>Device Dashboard</a:t>
            </a:r>
          </a:p>
        </p:txBody>
      </p:sp>
      <p:sp>
        <p:nvSpPr>
          <p:cNvPr id="3" name="Text Placeholder 2">
            <a:extLst>
              <a:ext uri="{FF2B5EF4-FFF2-40B4-BE49-F238E27FC236}">
                <a16:creationId xmlns:a16="http://schemas.microsoft.com/office/drawing/2014/main" id="{6F5843BA-C342-343C-9C3B-2C127C93CF05}"/>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ECA2F6C8-04EE-7C1F-736A-5646FC5AA43E}"/>
              </a:ext>
            </a:extLst>
          </p:cNvPr>
          <p:cNvSpPr>
            <a:spLocks noGrp="1"/>
          </p:cNvSpPr>
          <p:nvPr>
            <p:ph type="body" sz="quarter" idx="13"/>
          </p:nvPr>
        </p:nvSpPr>
        <p:spPr/>
        <p:txBody>
          <a:bodyPr/>
          <a:lstStyle/>
          <a:p>
            <a:endParaRPr lang="en-US" dirty="0"/>
          </a:p>
        </p:txBody>
      </p:sp>
      <p:sp>
        <p:nvSpPr>
          <p:cNvPr id="5" name="Text Placeholder 4">
            <a:extLst>
              <a:ext uri="{FF2B5EF4-FFF2-40B4-BE49-F238E27FC236}">
                <a16:creationId xmlns:a16="http://schemas.microsoft.com/office/drawing/2014/main" id="{4F715B86-FBBB-A969-A8A8-EDAF9243BF21}"/>
              </a:ext>
            </a:extLst>
          </p:cNvPr>
          <p:cNvSpPr>
            <a:spLocks noGrp="1"/>
          </p:cNvSpPr>
          <p:nvPr>
            <p:ph type="body" sz="quarter" idx="3"/>
          </p:nvPr>
        </p:nvSpPr>
        <p:spPr/>
        <p:txBody>
          <a:bodyPr/>
          <a:lstStyle/>
          <a:p>
            <a:endParaRPr lang="en-US"/>
          </a:p>
        </p:txBody>
      </p:sp>
      <p:sp>
        <p:nvSpPr>
          <p:cNvPr id="6" name="Text Placeholder 5">
            <a:extLst>
              <a:ext uri="{FF2B5EF4-FFF2-40B4-BE49-F238E27FC236}">
                <a16:creationId xmlns:a16="http://schemas.microsoft.com/office/drawing/2014/main" id="{59CBF5E7-5A33-E8E5-C2EE-9547355055BD}"/>
              </a:ext>
            </a:extLst>
          </p:cNvPr>
          <p:cNvSpPr>
            <a:spLocks noGrp="1"/>
          </p:cNvSpPr>
          <p:nvPr>
            <p:ph type="body" sz="quarter" idx="14"/>
          </p:nvPr>
        </p:nvSpPr>
        <p:spPr/>
        <p:txBody>
          <a:bodyPr/>
          <a:lstStyle/>
          <a:p>
            <a:endParaRPr lang="en-US" dirty="0"/>
          </a:p>
        </p:txBody>
      </p:sp>
      <p:pic>
        <p:nvPicPr>
          <p:cNvPr id="8" name="Picture 7">
            <a:extLst>
              <a:ext uri="{FF2B5EF4-FFF2-40B4-BE49-F238E27FC236}">
                <a16:creationId xmlns:a16="http://schemas.microsoft.com/office/drawing/2014/main" id="{1922B555-C595-3A00-2EF7-5DBFAA1523A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63181" y="1343206"/>
            <a:ext cx="9097108" cy="5117123"/>
          </a:xfrm>
          <a:prstGeom prst="rect">
            <a:avLst/>
          </a:prstGeom>
          <a:ln>
            <a:noFill/>
          </a:ln>
          <a:effectLst>
            <a:outerShdw blurRad="292100" dist="139700" dir="2700000" algn="tl" rotWithShape="0">
              <a:srgbClr val="333333">
                <a:alpha val="65000"/>
              </a:srgbClr>
            </a:outerShdw>
          </a:effectLst>
        </p:spPr>
      </p:pic>
      <p:sp>
        <p:nvSpPr>
          <p:cNvPr id="7" name="Date Placeholder 6">
            <a:extLst>
              <a:ext uri="{FF2B5EF4-FFF2-40B4-BE49-F238E27FC236}">
                <a16:creationId xmlns:a16="http://schemas.microsoft.com/office/drawing/2014/main" id="{2CECCB61-3697-8FCB-8F80-089B6B1BDDFC}"/>
              </a:ext>
            </a:extLst>
          </p:cNvPr>
          <p:cNvSpPr>
            <a:spLocks noGrp="1"/>
          </p:cNvSpPr>
          <p:nvPr>
            <p:ph type="dt" sz="half" idx="10"/>
          </p:nvPr>
        </p:nvSpPr>
        <p:spPr/>
        <p:txBody>
          <a:bodyPr/>
          <a:lstStyle/>
          <a:p>
            <a:r>
              <a:rPr lang="en-US"/>
              <a:t>7/2/2026</a:t>
            </a:r>
            <a:endParaRPr lang="en-US" dirty="0"/>
          </a:p>
        </p:txBody>
      </p:sp>
      <p:sp>
        <p:nvSpPr>
          <p:cNvPr id="9" name="Footer Placeholder 8">
            <a:extLst>
              <a:ext uri="{FF2B5EF4-FFF2-40B4-BE49-F238E27FC236}">
                <a16:creationId xmlns:a16="http://schemas.microsoft.com/office/drawing/2014/main" id="{F1F4073E-9EB1-9F8B-5F4F-AC2CF0B2D7A1}"/>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1397021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C94B94-A28F-E2C1-29E4-2510982C0E85}"/>
              </a:ext>
            </a:extLst>
          </p:cNvPr>
          <p:cNvSpPr>
            <a:spLocks noGrp="1"/>
          </p:cNvSpPr>
          <p:nvPr>
            <p:ph type="title"/>
          </p:nvPr>
        </p:nvSpPr>
        <p:spPr>
          <a:xfrm>
            <a:off x="429768" y="1627318"/>
            <a:ext cx="7370064" cy="1842020"/>
          </a:xfrm>
        </p:spPr>
        <p:txBody>
          <a:bodyPr/>
          <a:lstStyle/>
          <a:p>
            <a:r>
              <a:rPr lang="en-US" dirty="0"/>
              <a:t>Conclusion </a:t>
            </a:r>
          </a:p>
        </p:txBody>
      </p:sp>
      <p:sp>
        <p:nvSpPr>
          <p:cNvPr id="5" name="Content Placeholder 4">
            <a:extLst>
              <a:ext uri="{FF2B5EF4-FFF2-40B4-BE49-F238E27FC236}">
                <a16:creationId xmlns:a16="http://schemas.microsoft.com/office/drawing/2014/main" id="{331ECC70-B6CC-5482-A3F1-C41E6C2EF2A4}"/>
              </a:ext>
            </a:extLst>
          </p:cNvPr>
          <p:cNvSpPr>
            <a:spLocks noGrp="1"/>
          </p:cNvSpPr>
          <p:nvPr>
            <p:ph sz="quarter" idx="14"/>
          </p:nvPr>
        </p:nvSpPr>
        <p:spPr>
          <a:xfrm>
            <a:off x="429768" y="3622673"/>
            <a:ext cx="7370064" cy="2231136"/>
          </a:xfrm>
        </p:spPr>
        <p:txBody>
          <a:bodyPr/>
          <a:lstStyle/>
          <a:p>
            <a:r>
              <a:rPr lang="en-US" dirty="0"/>
              <a:t>This project demonstrates a functional, wide range electronic pipette (1-100 µL) that achieves high precision through software based calibration, offering an ergonomic alternative to manual pipetting with potential for integration into automated liquid-handling systems, and efficient dispensing features like aliquot and programmed dispensing.</a:t>
            </a:r>
          </a:p>
        </p:txBody>
      </p:sp>
      <p:sp>
        <p:nvSpPr>
          <p:cNvPr id="2" name="Date Placeholder 1">
            <a:extLst>
              <a:ext uri="{FF2B5EF4-FFF2-40B4-BE49-F238E27FC236}">
                <a16:creationId xmlns:a16="http://schemas.microsoft.com/office/drawing/2014/main" id="{F16A6A42-197D-B271-CFED-4CA38A86C182}"/>
              </a:ext>
            </a:extLst>
          </p:cNvPr>
          <p:cNvSpPr>
            <a:spLocks noGrp="1"/>
          </p:cNvSpPr>
          <p:nvPr>
            <p:ph type="dt" sz="half" idx="10"/>
          </p:nvPr>
        </p:nvSpPr>
        <p:spPr/>
        <p:txBody>
          <a:bodyPr/>
          <a:lstStyle/>
          <a:p>
            <a:r>
              <a:rPr lang="en-US"/>
              <a:t>7/2/2026</a:t>
            </a:r>
            <a:endParaRPr lang="en-US" dirty="0"/>
          </a:p>
        </p:txBody>
      </p:sp>
      <p:sp>
        <p:nvSpPr>
          <p:cNvPr id="3" name="Footer Placeholder 2">
            <a:extLst>
              <a:ext uri="{FF2B5EF4-FFF2-40B4-BE49-F238E27FC236}">
                <a16:creationId xmlns:a16="http://schemas.microsoft.com/office/drawing/2014/main" id="{F769CE7C-9A7C-37A8-546C-575E4E3A22AE}"/>
              </a:ext>
            </a:extLst>
          </p:cNvPr>
          <p:cNvSpPr>
            <a:spLocks noGrp="1"/>
          </p:cNvSpPr>
          <p:nvPr>
            <p:ph type="ftr" sz="quarter" idx="11"/>
          </p:nvPr>
        </p:nvSpPr>
        <p:spPr/>
        <p:txBody>
          <a:bodyPr/>
          <a:lstStyle/>
          <a:p>
            <a:r>
              <a:rPr lang="en-US"/>
              <a:t>Fluidrop | OMI Lab | Kahaan Padiya </a:t>
            </a:r>
            <a:endParaRPr lang="en-US" dirty="0"/>
          </a:p>
        </p:txBody>
      </p:sp>
    </p:spTree>
    <p:extLst>
      <p:ext uri="{BB962C8B-B14F-4D97-AF65-F5344CB8AC3E}">
        <p14:creationId xmlns:p14="http://schemas.microsoft.com/office/powerpoint/2010/main" val="864032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4DF5ECB37214B4B87F11B1441AED456" ma:contentTypeVersion="4" ma:contentTypeDescription="Create a new document." ma:contentTypeScope="" ma:versionID="85bab055cd934106ee35d554b1667bdc">
  <xsd:schema xmlns:xsd="http://www.w3.org/2001/XMLSchema" xmlns:xs="http://www.w3.org/2001/XMLSchema" xmlns:p="http://schemas.microsoft.com/office/2006/metadata/properties" xmlns:ns3="50da979a-3f7f-4ede-82ec-74c74b3e66fc" targetNamespace="http://schemas.microsoft.com/office/2006/metadata/properties" ma:root="true" ma:fieldsID="25011ef74e2f62487ed14e5a2cda0749" ns3:_="">
    <xsd:import namespace="50da979a-3f7f-4ede-82ec-74c74b3e66f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da979a-3f7f-4ede-82ec-74c74b3e66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FAE7ADC-5572-47FE-BE40-4792EA70A867}">
  <ds:schemaRefs>
    <ds:schemaRef ds:uri="http://schemas.microsoft.com/sharepoint/v3/contenttype/forms"/>
  </ds:schemaRefs>
</ds:datastoreItem>
</file>

<file path=customXml/itemProps2.xml><?xml version="1.0" encoding="utf-8"?>
<ds:datastoreItem xmlns:ds="http://schemas.openxmlformats.org/officeDocument/2006/customXml" ds:itemID="{68F2ECBB-41D0-416F-9364-7905B42B68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da979a-3f7f-4ede-82ec-74c74b3e66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4156391-F804-4A06-B48F-8124C299B4D3}">
  <ds:schemaRefs>
    <ds:schemaRef ds:uri="http://purl.org/dc/terms/"/>
    <ds:schemaRef ds:uri="http://schemas.microsoft.com/office/2006/metadata/properties"/>
    <ds:schemaRef ds:uri="http://www.w3.org/XML/1998/namespac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50da979a-3f7f-4ede-82ec-74c74b3e66fc"/>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{913EDC1E-D188-4D91-96AA-891813F35DE5}9901052e-9f9b-49a5-9493-59375491d64e-TF100df7e3-a978-4a95-a97b-183e1fcc9fc7_win32</Template>
  <TotalTime>2132</TotalTime>
  <Words>1801</Words>
  <Application>Microsoft Office PowerPoint</Application>
  <PresentationFormat>Widescreen</PresentationFormat>
  <Paragraphs>174</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Neue Haas Grotesk Text Pro</vt:lpstr>
      <vt:lpstr>DuneVTI</vt:lpstr>
      <vt:lpstr>Fluidrop. </vt:lpstr>
      <vt:lpstr>Agenda</vt:lpstr>
      <vt:lpstr>Product Overview</vt:lpstr>
      <vt:lpstr>System architecture and mechanics</vt:lpstr>
      <vt:lpstr>System architecture and mechanics</vt:lpstr>
      <vt:lpstr>System architecture and mechanics</vt:lpstr>
      <vt:lpstr>System architecture and mechanics</vt:lpstr>
      <vt:lpstr>Calibration Methodology</vt:lpstr>
      <vt:lpstr>PowerPoint Presentation</vt:lpstr>
      <vt:lpstr>Spectrophotometric Dye-Dilution Analysis</vt:lpstr>
      <vt:lpstr>Spectrophotometric Dye-Dilution Analysis – 50uL Performance</vt:lpstr>
      <vt:lpstr>Spectrophotometric Dye-Dilution Analysis – 10uL Performance</vt:lpstr>
      <vt:lpstr>Practical Application</vt:lpstr>
      <vt:lpstr>Practical Application</vt:lpstr>
      <vt:lpstr>Practical Application</vt:lpstr>
      <vt:lpstr>Device Dashboard</vt:lpstr>
      <vt:lpstr>Device Dashboard</vt:lpstr>
      <vt:lpstr>Device Dashboard</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23BEC009KahaanP</dc:creator>
  <cp:lastModifiedBy>23BEC009KahaanP</cp:lastModifiedBy>
  <cp:revision>3</cp:revision>
  <cp:lastPrinted>2026-07-02T02:28:34Z</cp:lastPrinted>
  <dcterms:created xsi:type="dcterms:W3CDTF">2026-07-01T17:18:37Z</dcterms:created>
  <dcterms:modified xsi:type="dcterms:W3CDTF">2026-07-03T06:48:08Z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0x01010054DF5ECB37214B4B87F11B1441AED456</vt:lpwstr>
  </property>
  <property fmtid="{D5CDD505-2E9C-101B-9397-08002B2CF9AE}" pid="3" name="MediaServiceImageTags">
    <vt:lpwstr/>
  </property>
</Properties>
</file>