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6A8A"/>
    <a:srgbClr val="CAD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%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EA5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AF0-476E-8C0B-85444C85BBA3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F0-476E-8C0B-85444C85BBA3}"/>
              </c:ext>
            </c:extLst>
          </c:dPt>
          <c:dPt>
            <c:idx val="2"/>
            <c:invertIfNegative val="0"/>
            <c:bubble3D val="0"/>
            <c:spPr>
              <a:solidFill>
                <a:srgbClr val="1DB9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AF0-476E-8C0B-85444C85BBA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AF0-476E-8C0B-85444C85BBA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2.37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AF0-476E-8C0B-85444C85BBA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0.76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AF0-476E-8C0B-85444C85BBA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Manual Control</c:v>
                </c:pt>
                <c:pt idx="1">
                  <c:v>Electronic v1</c:v>
                </c:pt>
                <c:pt idx="2">
                  <c:v>Electronic v3 (Linear)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0.15379321842392327</c:v>
                </c:pt>
                <c:pt idx="1">
                  <c:v>2.3786266933898159</c:v>
                </c:pt>
                <c:pt idx="2">
                  <c:v>0.76304940150802525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AF0-476E-8C0B-85444C85BB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CV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Control</c:v>
                </c:pt>
              </c:strCache>
            </c:strRef>
          </c:tx>
          <c:spPr>
            <a:ln w="31750" cap="flat">
              <a:solidFill>
                <a:srgbClr val="0EA5E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A5E9"/>
              </a:solidFill>
              <a:ln w="9525" cap="flat">
                <a:solidFill>
                  <a:srgbClr val="0EA5E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R4</c:v>
                </c:pt>
                <c:pt idx="4">
                  <c:v>R5</c:v>
                </c:pt>
                <c:pt idx="5">
                  <c:v>R6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0.47792000000000001</c:v>
                </c:pt>
                <c:pt idx="1">
                  <c:v>0.47687000000000002</c:v>
                </c:pt>
                <c:pt idx="2">
                  <c:v>0.47756999999999999</c:v>
                </c:pt>
                <c:pt idx="3">
                  <c:v>0.47685</c:v>
                </c:pt>
                <c:pt idx="4">
                  <c:v>0.47641</c:v>
                </c:pt>
                <c:pt idx="5">
                  <c:v>0.47592000000000001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58-43B5-B527-1D6C124332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Electronic v1</c:v>
                </c:pt>
              </c:strCache>
            </c:strRef>
          </c:tx>
          <c:spPr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R4</c:v>
                </c:pt>
                <c:pt idx="4">
                  <c:v>R5</c:v>
                </c:pt>
                <c:pt idx="5">
                  <c:v>R6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0.54012000000000004</c:v>
                </c:pt>
                <c:pt idx="1">
                  <c:v>0.56028</c:v>
                </c:pt>
                <c:pt idx="2">
                  <c:v>0.56806000000000001</c:v>
                </c:pt>
                <c:pt idx="3">
                  <c:v>0.5444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58-43B5-B527-1D6C124332C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Electronic v3 (Linear)</c:v>
                </c:pt>
              </c:strCache>
            </c:strRef>
          </c:tx>
          <c:spPr>
            <a:ln w="31750" cap="flat">
              <a:solidFill>
                <a:srgbClr val="1DB95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B954"/>
              </a:solidFill>
              <a:ln w="9525" cap="flat">
                <a:solidFill>
                  <a:srgbClr val="1DB95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R4</c:v>
                </c:pt>
                <c:pt idx="4">
                  <c:v>R5</c:v>
                </c:pt>
                <c:pt idx="5">
                  <c:v>R6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0.57069999999999999</c:v>
                </c:pt>
                <c:pt idx="1">
                  <c:v>0.57237000000000005</c:v>
                </c:pt>
                <c:pt idx="2">
                  <c:v>0.57199</c:v>
                </c:pt>
                <c:pt idx="3">
                  <c:v>0.57523999999999997</c:v>
                </c:pt>
                <c:pt idx="4">
                  <c:v>0.56357000000000002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F58-43B5-B527-1D6C124332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Absorbance @ 520nm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0716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828800" y="1051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Pipette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828800" y="1691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v2  ·  Linear </a:t>
            </a: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7863840" cy="0"/>
          </a:xfrm>
          <a:prstGeom prst="line">
            <a:avLst/>
          </a:prstGeom>
          <a:noFill/>
          <a:ln w="19050">
            <a:solidFill>
              <a:srgbClr val="3A7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Improvement via Linear Stepper Control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Analysis: Control · v1 · v2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Kahaan Padiya  ·  June 2026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9FC130-D889-32BD-115D-9566C6605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5521" y="1056640"/>
            <a:ext cx="600399" cy="1178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v2 — Linear Step Parametrisation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" cy="1691640"/>
          </a:xfrm>
          <a:prstGeom prst="rect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🔩  Linear Actuator step Control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Pulley system with force directors, with a industrial grade linear actuator, providing no backlash and much higher precision,  Repeatability  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54864" cy="1691640"/>
          </a:xfrm>
          <a:prstGeom prst="rect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Automatic Calibration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48132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parameters are configurable via serial interface. At startup, the pipette automatically homes using a contact switch at the bottom of piston stroke. Volume maps directly to step count, enabling reproducible and tunable aspiration depth.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54864" cy="1691640"/>
          </a:xfrm>
          <a:prstGeom prst="rect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9535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Tighter Test Protocol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35584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A"/>
                </a:solidFill>
              </a:rPr>
              <a:t>The readings are taken at 8uL, down from the 50uL, showing that the improvement in variation stays constant at lower volumes. </a:t>
            </a:r>
          </a:p>
        </p:txBody>
      </p:sp>
      <p:sp>
        <p:nvSpPr>
          <p:cNvPr id="16" name="Shape 14"/>
          <p:cNvSpPr/>
          <p:nvPr/>
        </p:nvSpPr>
        <p:spPr>
          <a:xfrm>
            <a:off x="4663440" y="278892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54864" cy="1691640"/>
          </a:xfrm>
          <a:prstGeom prst="rect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29535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 Improvement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335584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showed CV of 2.38% – mainly from string-slack at mechanical stops. v3 aims to bring CV below 0.8% by removing the string and using a direct screw drive.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Readings @ 520 nm — All Three Conditions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absorbance values used for statistical comparison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4114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Pipette (Control)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2743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14813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0.47792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865376"/>
            <a:ext cx="2743200" cy="347472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8653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186537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0.47687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249424"/>
            <a:ext cx="2743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2494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224942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0.47757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633472"/>
            <a:ext cx="2743200" cy="347472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6334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26334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0.47685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2743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017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45920" y="3017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0.47641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401568"/>
            <a:ext cx="2743200" cy="347472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34015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45920" y="34015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0.47592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1005840"/>
            <a:ext cx="274320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9184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v1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1481328"/>
            <a:ext cx="2743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37560" y="14813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14813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0.54012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46120" y="1865376"/>
            <a:ext cx="2743200" cy="347472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37560" y="18653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186537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0.56028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46120" y="2249424"/>
            <a:ext cx="2743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37560" y="22494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224942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0.56806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46120" y="2633472"/>
            <a:ext cx="2743200" cy="347472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37560" y="26334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0" y="26334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0.54440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46120" y="3090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72200" y="1005840"/>
            <a:ext cx="2743200" cy="41148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1792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v3 (Linear Step)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72200" y="1481328"/>
            <a:ext cx="2743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63640" y="14813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98080" y="14813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0.57070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172200" y="1865376"/>
            <a:ext cx="2743200" cy="347472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63640" y="18653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498080" y="186537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0.57237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172200" y="2249424"/>
            <a:ext cx="2743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63640" y="22494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98080" y="224942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0.57199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172200" y="2633472"/>
            <a:ext cx="2743200" cy="347472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263640" y="26334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4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498080" y="26334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0.57524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172200" y="3017520"/>
            <a:ext cx="2743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263640" y="3017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5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498080" y="3017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0.56357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17220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Metrics — Control vs v1 vs v3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1945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868680"/>
            <a:ext cx="2103120" cy="4114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868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(Control)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868680"/>
            <a:ext cx="210312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868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v1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95160" y="868680"/>
            <a:ext cx="2103120" cy="41148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40880" y="868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v3 (Linear)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344168"/>
            <a:ext cx="21945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3192" y="1344168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06040" y="1344168"/>
            <a:ext cx="21031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79192" y="134416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0.47692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1344168"/>
            <a:ext cx="21031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73752" y="134416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0.55322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95160" y="1344168"/>
            <a:ext cx="21031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68312" y="134416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0.57077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1801368"/>
            <a:ext cx="2194560" cy="420624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3192" y="1801368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(Sigma)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06040" y="1801368"/>
            <a:ext cx="2103120" cy="420624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79192" y="180136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0.000733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1801368"/>
            <a:ext cx="2103120" cy="420624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73752" y="180136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0.01316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95160" y="1801368"/>
            <a:ext cx="2103120" cy="420624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68312" y="180136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0.00436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2258568"/>
            <a:ext cx="21945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93192" y="2258568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3σ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06040" y="2258568"/>
            <a:ext cx="21031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79192" y="225856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0.00220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2258568"/>
            <a:ext cx="21031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73752" y="225856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0.0395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95160" y="2258568"/>
            <a:ext cx="21031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68312" y="225856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0.01307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2715768"/>
            <a:ext cx="2194560" cy="420624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93192" y="2715768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606040" y="2715768"/>
            <a:ext cx="2103120" cy="420624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679192" y="271576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0.154%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00600" y="2715768"/>
            <a:ext cx="2103120" cy="420624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73752" y="271576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2.379%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995160" y="2715768"/>
            <a:ext cx="2103120" cy="420624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068312" y="271576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20040" y="3172968"/>
            <a:ext cx="21945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93192" y="3172968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3×CV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606040" y="3172968"/>
            <a:ext cx="21031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679192" y="317296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0.461%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800600" y="3172968"/>
            <a:ext cx="21031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73752" y="317296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7.136%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995160" y="3172968"/>
            <a:ext cx="21031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068312" y="317296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2.289%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20040" y="4206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taken at 520 nm  ·  Pathlength 10 mm  ·  Green = best, Red = worst CV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% Comparison — Improvement Across Versions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975912810"/>
              </p:ext>
            </p:extLst>
          </p:nvPr>
        </p:nvGraphicFramePr>
        <p:xfrm>
          <a:off x="457200" y="777240"/>
          <a:ext cx="5303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960120"/>
            <a:ext cx="2743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126480" y="960120"/>
            <a:ext cx="54864" cy="8686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63640" y="1033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CV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63640" y="1325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0.154%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126480" y="2057400"/>
            <a:ext cx="2743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126480" y="205740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63640" y="2130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CV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63640" y="2423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2.379%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126480" y="3154680"/>
            <a:ext cx="2743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26480" y="3154680"/>
            <a:ext cx="54864" cy="86868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63640" y="3227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CV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63640" y="3520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12648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is 68% better CV than v1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Reading Spread — All Conditions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777240"/>
          <a:ext cx="8229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What v3 Tells 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4864" cy="178308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CV cut from 2.38% → 0.76%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step control dramatically reduced inter-reading variability. The 68% improvement over v1 confirms that string-slack at mechanical stops was the dominant source of error.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88036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54864" cy="1783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Still 5× above manual baseline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355848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CV = 0.154%. v3 at 0.76% is a major step forward but further work remains. Likely sources: Flex in 3d print, loss of motor power due to sideways torque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868680"/>
            <a:ext cx="54864" cy="1783080"/>
          </a:xfrm>
          <a:prstGeom prst="rect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Volume control implemented	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389888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weighing scale calibration, we can now correlate volume with step count, and control the volume via the app interface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834640"/>
            <a:ext cx="54864" cy="1783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4632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Next steps to close the gap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355848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pressure switch for self calibration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8046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Pipette v3 — Linear Step Parametrisation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CV reduced from 2.38% (v1) → 0.76% (v3) — a 68% improvement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562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Linear step control eliminates stop-dependency and string-slack errors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3865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3σ band tightened from 0.0395 (v1) to 0.0131 (v3) absorbance units</a:t>
            </a:r>
            <a:endParaRPr lang="en-US" sz="1400" dirty="0">
              <a:solidFill>
                <a:srgbClr val="CADCFC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291693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Volume control enabled using step count and calibration with weighing scale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44728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33088"/>
            <a:ext cx="8046720" cy="0"/>
          </a:xfrm>
          <a:prstGeom prst="line">
            <a:avLst/>
          </a:prstGeom>
          <a:noFill/>
          <a:ln w="12700">
            <a:solidFill>
              <a:srgbClr val="3A7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2245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561</Words>
  <Application>Microsoft Office PowerPoint</Application>
  <PresentationFormat>On-screen Show (16:9)</PresentationFormat>
  <Paragraphs>115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 Pipette – Prototype v3 (Linear Step)</dc:title>
  <dc:subject>PptxGenJS Presentation</dc:subject>
  <dc:creator>PptxGenJS</dc:creator>
  <cp:lastModifiedBy>23BEC009KahaanP</cp:lastModifiedBy>
  <cp:revision>2</cp:revision>
  <dcterms:created xsi:type="dcterms:W3CDTF">2026-06-05T05:17:44Z</dcterms:created>
  <dcterms:modified xsi:type="dcterms:W3CDTF">2026-06-05T11:08:51Z</dcterms:modified>
</cp:coreProperties>
</file>