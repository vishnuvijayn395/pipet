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CCCC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CCCCCC"/>
                </a:solidFill>
                <a:latin typeface="Arial"/>
              </a:rPr>
              <a:t>Coefficient of Variation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2F-49E1-9982-24325D7810FF}"/>
              </c:ext>
            </c:extLst>
          </c:dPt>
          <c:dPt>
            <c:idx val="1"/>
            <c:invertIfNegative val="0"/>
            <c:bubble3D val="0"/>
            <c:spPr>
              <a:solidFill>
                <a:srgbClr val="3A8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2F-49E1-9982-24325D7810F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680D2A9-A372-40F7-868F-B170856CBF78}" type="VALUE">
                      <a:rPr lang="en-US" smtClean="0"/>
                      <a:pPr/>
                      <a:t>[VALUE]</a:t>
                    </a:fld>
                    <a:r>
                      <a:rPr lang="en-US"/>
                      <a:t>.15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72F-49E1-9982-24325D7810F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521C0DA-4099-4AAF-8764-800CF921237F}" type="VALUE">
                      <a:rPr lang="en-US" smtClean="0"/>
                      <a:pPr/>
                      <a:t>[VALUE]</a:t>
                    </a:fld>
                    <a:r>
                      <a:rPr lang="en-US"/>
                      <a:t>.4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72F-49E1-9982-24325D7810F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Pipette</c:v>
                </c:pt>
                <c:pt idx="1">
                  <c:v>Electronic Pipette (v1)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0.15379999999999999</c:v>
                </c:pt>
                <c:pt idx="1">
                  <c:v>2.3786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2F-49E1-9982-24325D7810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A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36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Pipette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-3861582" y="2514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ka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457200"/>
            <a:ext cx="265176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</a:rPr>
              <a:t>Prototype v1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D8BA3-4BF3-8047-7D61-A9FEEB4A7D97}"/>
              </a:ext>
            </a:extLst>
          </p:cNvPr>
          <p:cNvSpPr txBox="1"/>
          <p:nvPr/>
        </p:nvSpPr>
        <p:spPr>
          <a:xfrm>
            <a:off x="453600" y="2194560"/>
            <a:ext cx="52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Proof of Concept and Initial Hardware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C2109-50B5-002B-F1C6-FB85D6BC5F60}"/>
              </a:ext>
            </a:extLst>
          </p:cNvPr>
          <p:cNvSpPr txBox="1"/>
          <p:nvPr/>
        </p:nvSpPr>
        <p:spPr>
          <a:xfrm>
            <a:off x="7543800" y="4709160"/>
            <a:ext cx="2480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Kahaan Padiya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Manual Pipetting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😓  Repetitive Strain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pipette strokes per day cause thumb and wrist fatigue, leading to RSI in lab technicians.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📉  Human Variability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727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force inconsistency introduces volume error. CV of manual pipetting can exceed 1–2% for small volumes.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💸  Cost of Error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dispensing wastes expensive reagents and can invalidate entire experiment runs.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944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⚡  Our Goal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3101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low-cost electronic pipette using off-the-shelf components to improve consistency.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Arduino Nano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98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Microcontroller brain. Stores calibration positions in EEPROM, handles serial commands (PREP / ASP / DISP) and jog control.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02920" cy="59436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Stepper Motor + Driver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Provides precise angular positioning. The driver board enables control and handles the current requirements of the Stepper.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502920" cy="594360"/>
          </a:xfrm>
          <a:prstGeom prst="rect">
            <a:avLst/>
          </a:prstGeom>
          <a:solidFill>
            <a:srgbClr val="FFB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Pulley &amp; String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5292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Converts rotary Stepper motion into linear plunger travel. String is routed over two force-redirector for smooth, vertical actuation.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502920" cy="594360"/>
          </a:xfrm>
          <a:prstGeom prst="rect">
            <a:avLst/>
          </a:prstGeom>
          <a:solidFill>
            <a:srgbClr val="DEF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55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Serial Controller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63016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Browser-based UI (Web Serial API). No app install needed — connect over USB, calibrate endpoints, and run standard pipetting protocol.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133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Future: Pressure Switch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40740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A limit switch at maximum plunger depth will kill the motor, protecting the mechanism and auto-detecting the blowout position.</a:t>
            </a:r>
            <a:endParaRPr lang="en-US" sz="11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960120"/>
            <a:ext cx="19202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</a:rPr>
              <a:t>Operating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</a:rPr>
              <a:t>Three Physical buttons on the pipette to control each stage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solidFill>
            <a:srgbClr val="FFB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PREP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56032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PREP Button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1. Push to First Stop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Press PREP button. Stepper drives plunger to pre-aspirate position and establishes consistent volume baseline before liquid contact.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743200" cy="54864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ASP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1965960"/>
            <a:ext cx="256032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ASP Button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2. Aspirate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Press ASP button. Motor retracts plunger to calibrated aspirate depth. Immerse tip first; negative pressure draws liquid in accurately.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2743200" cy="548640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DISP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256032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DISP Button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3. Dispense &amp; Blowout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7432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Press DISP button. Full plunger travel to second stop — dispenses volume and completes blowout, expelling all residual liquid.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Two Interfaces, Two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206240" cy="4114800"/>
          </a:xfrm>
          <a:prstGeom prst="rect">
            <a:avLst/>
          </a:prstGeom>
          <a:solidFill>
            <a:srgbClr val="141E2B"/>
          </a:solidFill>
          <a:ln/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LAPTOP  ·  One-Time Calibration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</a:rPr>
              <a:t>Done once. Saved permanently to EEPROM.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828800"/>
            <a:ext cx="347472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Jog UP / 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Use ↑↓ buttons to manually position plunger at the desired depth.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514600"/>
            <a:ext cx="347472" cy="5029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5146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5328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Open Position (ZERO)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61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Save the resting / top-of-travel position. Plunger fully retracted.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200400"/>
            <a:ext cx="347472" cy="502920"/>
          </a:xfrm>
          <a:prstGeom prst="rect">
            <a:avLst/>
          </a:prstGeom>
          <a:solidFill>
            <a:srgbClr val="FFB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2004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18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Save 1st Stop (Aspirate)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47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Motor at the exact depth that draws the correct volume into the tip.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886200"/>
            <a:ext cx="347472" cy="50292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8862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904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Save 2nd Stop (Blowout)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133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Deepest point : full plunger depression to expel all residual liquid.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617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Recalibrate only when needed.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0" cy="4023360"/>
          </a:xfrm>
          <a:prstGeom prst="line">
            <a:avLst/>
          </a:prstGeom>
          <a:noFill/>
          <a:ln w="25400">
            <a:solidFill>
              <a:srgbClr val="2A3A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A4A"/>
                </a:solidFill>
              </a:rPr>
              <a:t>VS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868680"/>
            <a:ext cx="4023360" cy="4114800"/>
          </a:xfrm>
          <a:prstGeom prst="rect">
            <a:avLst/>
          </a:prstGeom>
          <a:solidFill>
            <a:srgbClr val="141E2B"/>
          </a:solidFill>
          <a:ln/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868680"/>
            <a:ext cx="4023360" cy="45720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PHYSICAL BUTTONS (V1.1) ·  Daily Operation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</a:rPr>
              <a:t>No laptop. Just the pipette.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187452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FBE0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1874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PREP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0" y="2276856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Push to 1st Stop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28803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3A86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28803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ASP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29200" y="3282696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Aspirate Liquid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388620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F006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38862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DISP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029200" y="4288536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Dispense &amp; Blowout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56048" y="4617720"/>
            <a:ext cx="3794760" cy="2560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56048" y="4617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86FF"/>
                </a:solidFill>
              </a:rPr>
              <a:t>Reads positions from EEPROM at boot. Works standalone.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</a:rPr>
              <a:t>Precision Comparison: Normal vs Electronic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Manual Pipette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960120"/>
            <a:ext cx="4114800" cy="45720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Electronic Pipette (v1)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</a:rPr>
              <a:t>Readings taken at 520nm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143000" cy="3200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0.47792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73352" y="1828800"/>
            <a:ext cx="1143000" cy="3200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73352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0.47687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35224" y="1828800"/>
            <a:ext cx="1143000" cy="3200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35224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0.47757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212848"/>
            <a:ext cx="1143000" cy="3200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212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0.47685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73352" y="2212848"/>
            <a:ext cx="1143000" cy="3200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73352" y="2212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0.47641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35224" y="2212848"/>
            <a:ext cx="1143000" cy="3200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35224" y="2212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0.47592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828800"/>
            <a:ext cx="1783080" cy="320040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0.54012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828800"/>
            <a:ext cx="1783080" cy="320040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0.56028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212848"/>
            <a:ext cx="1783080" cy="320040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0.56806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212848"/>
            <a:ext cx="1783080" cy="320040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0.54440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21214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Electronic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Average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0.4769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</a:rPr>
                        <a:t>0.5532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σ (Sigma)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0.000733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</a:rPr>
                        <a:t>0.01316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3σ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0.00220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</a:rPr>
                        <a:t>0.03948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CV 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0.154%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</a:rPr>
                        <a:t>2.379%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3×CV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0.461%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3300"/>
                          </a:solidFill>
                        </a:rPr>
                        <a:t>7.136%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Measurement Spread Visualised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712417998"/>
              </p:ext>
            </p:extLst>
          </p:nvPr>
        </p:nvGraphicFramePr>
        <p:xfrm>
          <a:off x="365760" y="914400"/>
          <a:ext cx="3664634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EBD3862-2675-6999-763D-9F72ADD69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23" y="1280159"/>
            <a:ext cx="4812907" cy="27871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</a:rPr>
              <a:t>Roadmap &amp; 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685800" cy="1691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v1.1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161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Pressure / Limit Switch + control buttons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152704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527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86FF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Mount a microswitch at maximum plunger depth. Arduino kills motor on trigger. Add Buttons to control Prep, aspirate and dispense.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685800" cy="169164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v1.2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161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Auto-Calibration Mode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152704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1527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86FF"/>
                </a:solidFill>
              </a:rPr>
              <a:t>Planned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On boot, motor travels to limit switch to find true zero automatically. Calibration saved without manual jog steps.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685800" cy="1691640"/>
          </a:xfrm>
          <a:prstGeom prst="rect">
            <a:avLst/>
          </a:prstGeom>
          <a:solidFill>
            <a:srgbClr val="FFB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v2.0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Encoder Feedback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3000" y="340156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3401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86FF"/>
                </a:solidFill>
              </a:rPr>
              <a:t>Planned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Rotary encoder on Stepper shaft provides closed-loop position control dramatically reduces CV by eliminating string slack error.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685800" cy="1691640"/>
          </a:xfrm>
          <a:prstGeom prst="rect">
            <a:avLst/>
          </a:prstGeom>
          <a:solidFill>
            <a:srgbClr val="DEF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92608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v2.1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Volume Selection UI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32120" y="340156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2120" y="3401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86FF"/>
                </a:solidFill>
              </a:rPr>
              <a:t>Future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3212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Add a volume input to the web controller. Software maps desired µL to encoder ticks for flexible, calibrated aspiration.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</a:rPr>
              <a:t>A working proof-of-concept in a form factor that costs a fraction of commercial alternatives.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✅  Functional 3-command pipetting protocol over USB Serial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671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✅  EEPROM-persisted calibration — survives power cycles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3405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✅ Web based browser controller — no install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0098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📊  CV of 2.38% vs 0.15% manual — improvement path identified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86791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EFF9A"/>
                </a:solidFill>
              </a:rPr>
              <a:t>🔧  </a:t>
            </a:r>
            <a:r>
              <a:rPr lang="en-US" sz="1400" dirty="0">
                <a:solidFill>
                  <a:schemeClr val="accent4"/>
                </a:solidFill>
              </a:rPr>
              <a:t>Pressure switch (v1.1) will fix primary source of error</a:t>
            </a:r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Built with: Arduino Nano  ·  Stepper Motor  ·  Web Serial API  ·  EEPROM  ·  Open Hardware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DF5ECB37214B4B87F11B1441AED456" ma:contentTypeVersion="4" ma:contentTypeDescription="Create a new document." ma:contentTypeScope="" ma:versionID="85bab055cd934106ee35d554b1667bdc">
  <xsd:schema xmlns:xsd="http://www.w3.org/2001/XMLSchema" xmlns:xs="http://www.w3.org/2001/XMLSchema" xmlns:p="http://schemas.microsoft.com/office/2006/metadata/properties" xmlns:ns3="50da979a-3f7f-4ede-82ec-74c74b3e66fc" targetNamespace="http://schemas.microsoft.com/office/2006/metadata/properties" ma:root="true" ma:fieldsID="25011ef74e2f62487ed14e5a2cda0749" ns3:_="">
    <xsd:import namespace="50da979a-3f7f-4ede-82ec-74c74b3e66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da979a-3f7f-4ede-82ec-74c74b3e66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0ECD5B-B1B5-40C9-856B-6F37077BBE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da979a-3f7f-4ede-82ec-74c74b3e66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4D0FF8-1ACF-48DC-AFBB-80A9C28CD7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2EA8FF-8085-4334-82A9-B8EFF90AA230}">
  <ds:schemaRefs>
    <ds:schemaRef ds:uri="http://schemas.microsoft.com/office/2006/documentManagement/types"/>
    <ds:schemaRef ds:uri="50da979a-3f7f-4ede-82ec-74c74b3e66fc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728</Words>
  <Application>Microsoft Office PowerPoint</Application>
  <PresentationFormat>On-screen Show (16:9)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Pipette</dc:title>
  <dc:subject>PptxGenJS Presentation</dc:subject>
  <dc:creator>PptxGenJS</dc:creator>
  <cp:lastModifiedBy>23BEC009KahaanP</cp:lastModifiedBy>
  <cp:revision>6</cp:revision>
  <dcterms:created xsi:type="dcterms:W3CDTF">2026-05-28T05:36:40Z</dcterms:created>
  <dcterms:modified xsi:type="dcterms:W3CDTF">2026-05-29T07:08:08Z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0x01010054DF5ECB37214B4B87F11B1441AED456</vt:lpwstr>
  </property>
</Properties>
</file>